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ebcc1fd3f44d2a" /><Relationship Type="http://schemas.openxmlformats.org/officeDocument/2006/relationships/extended-properties" Target="/docProps/app.xml" Id="R697aa763cd7c4f85" /><Relationship Type="http://schemas.openxmlformats.org/officeDocument/2006/relationships/officeDocument" Target="/ppt/presentation.xml" Id="R2a4431bdd71e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97921c9c0d4db2"/>
  </p:sldMasterIdLst>
  <p:notesMasterIdLst>
    <p:notesMasterId xmlns:r="http://schemas.openxmlformats.org/officeDocument/2006/relationships" r:id="R22c05cd6342b4643"/>
  </p:notesMasterIdLst>
  <p:sldIdLst>
    <p:sldId xmlns:r="http://schemas.openxmlformats.org/officeDocument/2006/relationships" id="256" r:id="Rf240594df71f474a"/>
    <p:sldId xmlns:r="http://schemas.openxmlformats.org/officeDocument/2006/relationships" id="257" r:id="R72ede0f7ec454356"/>
    <p:sldId xmlns:r="http://schemas.openxmlformats.org/officeDocument/2006/relationships" id="258" r:id="Rc85f7e747e5a4ac8"/>
    <p:sldId xmlns:r="http://schemas.openxmlformats.org/officeDocument/2006/relationships" id="259" r:id="R85eec1ceca254953"/>
    <p:sldId xmlns:r="http://schemas.openxmlformats.org/officeDocument/2006/relationships" id="260" r:id="Re59414920be44757"/>
    <p:sldId xmlns:r="http://schemas.openxmlformats.org/officeDocument/2006/relationships" id="261" r:id="Rfb7a7e6b07994324"/>
    <p:sldId xmlns:r="http://schemas.openxmlformats.org/officeDocument/2006/relationships" id="262" r:id="R2371cac5d8014541"/>
    <p:sldId xmlns:r="http://schemas.openxmlformats.org/officeDocument/2006/relationships" id="263" r:id="Rb8b4a78139664e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3071ba99546c4" /><Relationship Type="http://schemas.openxmlformats.org/officeDocument/2006/relationships/slideMaster" Target="/ppt/slideMasters/slideMaster1.xml" Id="R8997921c9c0d4db2" /><Relationship Type="http://schemas.openxmlformats.org/officeDocument/2006/relationships/notesMaster" Target="/ppt/notesMasters/notesMaster1.xml" Id="R22c05cd6342b4643" /><Relationship Type="http://schemas.openxmlformats.org/officeDocument/2006/relationships/presProps" Target="/ppt/presProps.xml" Id="R340692418bed4a4c" /><Relationship Type="http://schemas.openxmlformats.org/officeDocument/2006/relationships/tableStyles" Target="/ppt/tableStyles.xml" Id="Rd3ed9097307b4197" /><Relationship Type="http://schemas.openxmlformats.org/officeDocument/2006/relationships/slide" Target="/ppt/slides/slide1.xml" Id="Rf240594df71f474a" /><Relationship Type="http://schemas.openxmlformats.org/officeDocument/2006/relationships/slide" Target="/ppt/slides/slide2.xml" Id="R72ede0f7ec454356" /><Relationship Type="http://schemas.openxmlformats.org/officeDocument/2006/relationships/slide" Target="/ppt/slides/slide3.xml" Id="Rc85f7e747e5a4ac8" /><Relationship Type="http://schemas.openxmlformats.org/officeDocument/2006/relationships/slide" Target="/ppt/slides/slide4.xml" Id="R85eec1ceca254953" /><Relationship Type="http://schemas.openxmlformats.org/officeDocument/2006/relationships/slide" Target="/ppt/slides/slide5.xml" Id="Re59414920be44757" /><Relationship Type="http://schemas.openxmlformats.org/officeDocument/2006/relationships/slide" Target="/ppt/slides/slide6.xml" Id="Rfb7a7e6b07994324" /><Relationship Type="http://schemas.openxmlformats.org/officeDocument/2006/relationships/slide" Target="/ppt/slides/slide7.xml" Id="R2371cac5d8014541" /><Relationship Type="http://schemas.openxmlformats.org/officeDocument/2006/relationships/slide" Target="/ppt/slides/slide8.xml" Id="Rb8b4a7813966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1f95ba9da741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1d54dc38845a0" /><Relationship Type="http://schemas.openxmlformats.org/officeDocument/2006/relationships/notesMaster" Target="/ppt/notesMasters/notesMaster1.xml" Id="R4b1592ce81b5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3a2871ea9a40d1" /><Relationship Type="http://schemas.openxmlformats.org/officeDocument/2006/relationships/notesMaster" Target="/ppt/notesMasters/notesMaster1.xml" Id="Raa7b470ff7a1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6bda82a6d64ed8" /><Relationship Type="http://schemas.openxmlformats.org/officeDocument/2006/relationships/notesMaster" Target="/ppt/notesMasters/notesMaster1.xml" Id="R61cd1049685f41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f0937266f4de9" /><Relationship Type="http://schemas.openxmlformats.org/officeDocument/2006/relationships/notesMaster" Target="/ppt/notesMasters/notesMaster1.xml" Id="Rede81956d8b043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853c501a4f4594" /><Relationship Type="http://schemas.openxmlformats.org/officeDocument/2006/relationships/notesMaster" Target="/ppt/notesMasters/notesMaster1.xml" Id="R87eda24287fb44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d36cfe08f240a2" /><Relationship Type="http://schemas.openxmlformats.org/officeDocument/2006/relationships/notesMaster" Target="/ppt/notesMasters/notesMaster1.xml" Id="Raaa35b38c64042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2fed383f374577" /><Relationship Type="http://schemas.openxmlformats.org/officeDocument/2006/relationships/notesMaster" Target="/ppt/notesMasters/notesMaster1.xml" Id="R9b32f7f58346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2a37b8ab24c23" /><Relationship Type="http://schemas.openxmlformats.org/officeDocument/2006/relationships/notesMaster" Target="/ppt/notesMasters/notesMaster1.xml" Id="Rf4516e12ceb2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345801ea8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6ee229146b4281" /><Relationship Type="http://schemas.openxmlformats.org/officeDocument/2006/relationships/slideLayout" Target="/ppt/slideLayouts/slideLayout1.xml" Id="R5f225f9a9df44a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25f9a9df44a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b8514023440d5" /><Relationship Type="http://schemas.openxmlformats.org/officeDocument/2006/relationships/notesSlide" Target="/ppt/notesSlides/notesSlide1.xml" Id="R9f3b35a21ae044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b015bb293473c" /><Relationship Type="http://schemas.openxmlformats.org/officeDocument/2006/relationships/notesSlide" Target="/ppt/notesSlides/notesSlide2.xml" Id="R8109ae0526c845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ae90610ed4d8d" /><Relationship Type="http://schemas.openxmlformats.org/officeDocument/2006/relationships/notesSlide" Target="/ppt/notesSlides/notesSlide3.xml" Id="Rdaafd718b92843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242976ae24f22" /><Relationship Type="http://schemas.openxmlformats.org/officeDocument/2006/relationships/notesSlide" Target="/ppt/notesSlides/notesSlide4.xml" Id="R8dd8ed48ad364c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2079333fd4bb9" /><Relationship Type="http://schemas.openxmlformats.org/officeDocument/2006/relationships/notesSlide" Target="/ppt/notesSlides/notesSlide5.xml" Id="R46002417354743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881cf1d6a4a22" /><Relationship Type="http://schemas.openxmlformats.org/officeDocument/2006/relationships/notesSlide" Target="/ppt/notesSlides/notesSlide6.xml" Id="R37d19c737b464d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f831834084db6" /><Relationship Type="http://schemas.openxmlformats.org/officeDocument/2006/relationships/notesSlide" Target="/ppt/notesSlides/notesSlide7.xml" Id="R40d8f1d4781049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3e0de536c49fb" /><Relationship Type="http://schemas.openxmlformats.org/officeDocument/2006/relationships/notesSlide" Target="/ppt/notesSlides/notesSlide8.xml" Id="Ra70c3426dcc647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ar">
            <a:extLst xmlns:a="http://schemas.openxmlformats.org/drawingml/2006/main">
              <a:ext uri="{FF2B5EF4-FFF2-40B4-BE49-F238E27FC236}">
                <a16:creationId xmlns:a16="http://schemas.microsoft.com/office/drawing/2014/main" id="{DE57F0D9-9F8A-488D-B630-AC5B9CF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label">
            <a:extLst xmlns:a="http://schemas.openxmlformats.org/drawingml/2006/main">
              <a:ext uri="{FF2B5EF4-FFF2-40B4-BE49-F238E27FC236}">
                <a16:creationId xmlns:a16="http://schemas.microsoft.com/office/drawing/2014/main" id="{61B6DA0D-C925-4717-972A-5B4C843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明川银行｜管理层决策汇报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0E03F8-E146-47A0-A369-8605EDE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明川银行 AI 反欺诈预警系统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99CF7A-9678-4E0C-8211-14E97A9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建议有条件批准受控试点，不批准直接全面上线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75E631B6-7FD8-4DE3-9CDC-6E7C520C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CEEC2DED-D6AF-4014-B0A3-14B2B63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修订版V1　｜　P001—P013复测口径</a:t>
            </a:r>
          </a:p>
        </p:txBody>
      </p:sp>
      <p:sp>
        <p:nvSpPr>
          <p:cNvPr id="7" name="cover-foot">
            <a:extLst xmlns:a="http://schemas.openxmlformats.org/drawingml/2006/main">
              <a:ext uri="{FF2B5EF4-FFF2-40B4-BE49-F238E27FC236}">
                <a16:creationId xmlns:a16="http://schemas.microsoft.com/office/drawing/2014/main" id="{53197F23-8214-4D15-A041-9B2ACF9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教学模拟｜不得用于真实金融决策</a:t>
            </a:r>
          </a:p>
        </p:txBody>
      </p:sp>
    </p:spTree>
    <p:extLst>
      <p:ext uri="{BB962C8B-B14F-4D97-AF65-F5344CB8AC3E}">
        <p14:creationId xmlns:p14="http://schemas.microsoft.com/office/powerpoint/2010/main" val="1949430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bar-2">
            <a:extLst xmlns:a="http://schemas.openxmlformats.org/drawingml/2006/main">
              <a:ext uri="{FF2B5EF4-FFF2-40B4-BE49-F238E27FC236}">
                <a16:creationId xmlns:a16="http://schemas.microsoft.com/office/drawing/2014/main" id="{DC638ACA-261E-4106-A0FC-59F68F0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8B81A0C1-DEBF-4AF3-AF19-3B5D23C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01｜问题与证据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FB51B6C-C339-482A-AFC9-87B44D4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现有压力值得验证，但不足以证明AI有效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1694B7B8-AE34-4C01-BD7E-2858E3A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CDB09AC0-DA9B-48F5-ADAE-2C259DD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02  ·  教学模拟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C3841B9-1382-466A-83B2-32078EE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1,200万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C087EAA7-6F78-4386-BD5A-109E5DC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年交易量</a:t>
            </a:r>
          </a:p>
        </p:txBody>
      </p:sp>
      <p:sp>
        <p:nvSpPr>
          <p:cNvPr id="8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C8313A29-6EF9-4332-99CA-94699588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事实表｜笔/年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89EFD1E-4F8B-477A-9B5D-8F62448D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3,600万元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4EFF4EA-EF80-45ED-824E-C73FD20F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年直接欺诈损失</a:t>
            </a:r>
          </a:p>
        </p:txBody>
      </p:sp>
      <p:sp>
        <p:nvSpPr>
          <p:cNvPr id="11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C3CEB997-5EC7-4BA0-B2C6-AD33FB0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事实表｜不含间接与声誉成本</a:t>
            </a:r>
          </a:p>
        </p:txBody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8272482-3433-4DC1-806A-1D9873A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67EB4210-B659-4551-B074-79B3673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当前误报率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0835DF6C-6028-4E8B-BC82-7CBDBCE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事实表｜当前基线</a:t>
            </a:r>
          </a:p>
        </p:txBody>
      </p:sp>
      <p:sp>
        <p:nvSpPr>
          <p:cNvPr id="15" name="why-text">
            <a:extLst xmlns:a="http://schemas.openxmlformats.org/drawingml/2006/main">
              <a:ext uri="{FF2B5EF4-FFF2-40B4-BE49-F238E27FC236}">
                <a16:creationId xmlns:a16="http://schemas.microsoft.com/office/drawing/2014/main" id="{46DB0A27-F07A-475F-AF33-EFCF777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5262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18,000笔年预警由28人团队复核，平均18分钟/笔。现状值得验证辅助排序与解释，但仍不能证明AI可改善结果。</a:t>
            </a:r>
          </a:p>
        </p:txBody>
      </p:sp>
      <p:sp>
        <p:nvSpPr>
          <p:cNvPr id="16" name="why-callout-bg">
            <a:extLst xmlns:a="http://schemas.openxmlformats.org/drawingml/2006/main">
              <a:ext uri="{FF2B5EF4-FFF2-40B4-BE49-F238E27FC236}">
                <a16:creationId xmlns:a16="http://schemas.microsoft.com/office/drawing/2014/main" id="{1C9C0D6D-FB4F-4861-8892-420BAF1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7" name="why-callout">
            <a:extLst xmlns:a="http://schemas.openxmlformats.org/drawingml/2006/main">
              <a:ext uri="{FF2B5EF4-FFF2-40B4-BE49-F238E27FC236}">
                <a16:creationId xmlns:a16="http://schemas.microsoft.com/office/drawing/2014/main" id="{E91E12CB-6093-4FD0-9760-52C98CE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核心判断：业务问题值得验证，但现有证据不足以支持全面上线或收益承诺。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671029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bar-3">
            <a:extLst xmlns:a="http://schemas.openxmlformats.org/drawingml/2006/main">
              <a:ext uri="{FF2B5EF4-FFF2-40B4-BE49-F238E27FC236}">
                <a16:creationId xmlns:a16="http://schemas.microsoft.com/office/drawing/2014/main" id="{FB58AEA9-2D7D-46EB-A82C-0160BBA6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AAFA922C-FDB9-4379-9500-6A76BD2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02｜试点方案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E2E51A3-B1D3-4DBA-A579-0F81BD1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先验证小范围场景，再决定是否扩展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F7799956-9BC3-4781-B251-CD39399A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C25EFB8-43DB-404A-89D1-9FC1A6E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03  ·  教学模拟</a:t>
            </a:r>
          </a:p>
        </p:txBody>
      </p:sp>
      <p:sp>
        <p:nvSpPr>
          <p:cNvPr id="6" name="stage-num-1">
            <a:extLst xmlns:a="http://schemas.openxmlformats.org/drawingml/2006/main">
              <a:ext uri="{FF2B5EF4-FFF2-40B4-BE49-F238E27FC236}">
                <a16:creationId xmlns:a16="http://schemas.microsoft.com/office/drawing/2014/main" id="{DD847370-3874-4D19-8420-31567DF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tage-line-1">
            <a:extLst xmlns:a="http://schemas.openxmlformats.org/drawingml/2006/main">
              <a:ext uri="{FF2B5EF4-FFF2-40B4-BE49-F238E27FC236}">
                <a16:creationId xmlns:a16="http://schemas.microsoft.com/office/drawing/2014/main" id="{711A18AB-93B5-4FCB-AF74-A225792E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6FB699D8-B638-4ACC-9EBF-1B6B2F8F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前3个月有限试点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0DFEDF8B-1B97-4C5C-800A-3263DB5C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授权、基线、历史回放；有限实时流量与人工复核</a:t>
            </a:r>
          </a:p>
        </p:txBody>
      </p:sp>
      <p:sp>
        <p:nvSpPr>
          <p:cNvPr id="10" name="stage-num-2">
            <a:extLst xmlns:a="http://schemas.openxmlformats.org/drawingml/2006/main">
              <a:ext uri="{FF2B5EF4-FFF2-40B4-BE49-F238E27FC236}">
                <a16:creationId xmlns:a16="http://schemas.microsoft.com/office/drawing/2014/main" id="{4876B6FC-0DF5-45D0-A74F-EDDBDBBB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tage-line-2">
            <a:extLst xmlns:a="http://schemas.openxmlformats.org/drawingml/2006/main">
              <a:ext uri="{FF2B5EF4-FFF2-40B4-BE49-F238E27FC236}">
                <a16:creationId xmlns:a16="http://schemas.microsoft.com/office/drawing/2014/main" id="{685BD93A-9257-4694-A244-4403437E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920F7223-669B-4876-8044-17E1C0EE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第3个月末门槛</a:t>
            </a:r>
          </a:p>
        </p:txBody>
      </p:sp>
      <p:sp>
        <p:nvSpPr>
          <p:cNvPr id="13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9DF6E1AD-5643-46D9-A8F9-5C4B9DE6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继续、整改、暂停或退出；未通过不得扩展</a:t>
            </a:r>
          </a:p>
        </p:txBody>
      </p:sp>
      <p:sp>
        <p:nvSpPr>
          <p:cNvPr id="14" name="stage-num-3">
            <a:extLst xmlns:a="http://schemas.openxmlformats.org/drawingml/2006/main">
              <a:ext uri="{FF2B5EF4-FFF2-40B4-BE49-F238E27FC236}">
                <a16:creationId xmlns:a16="http://schemas.microsoft.com/office/drawing/2014/main" id="{1033B82F-D47B-404C-8292-BCAFCEA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tage-line-3">
            <a:extLst xmlns:a="http://schemas.openxmlformats.org/drawingml/2006/main">
              <a:ext uri="{FF2B5EF4-FFF2-40B4-BE49-F238E27FC236}">
                <a16:creationId xmlns:a16="http://schemas.microsoft.com/office/drawing/2014/main" id="{6DD3C0C6-02A3-4518-BB3C-AC262F5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DFEC49D-36E5-47FD-8548-D3B8921E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第4—8个月</a:t>
            </a:r>
          </a:p>
        </p:txBody>
      </p:sp>
      <p:sp>
        <p:nvSpPr>
          <p:cNvPr id="17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F9048DD0-FAC1-4FB1-9944-A8CD762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仅扩展经批准场景；持续监控风险与客户影响</a:t>
            </a:r>
          </a:p>
        </p:txBody>
      </p:sp>
      <p:sp>
        <p:nvSpPr>
          <p:cNvPr id="18" name="stage-num-4">
            <a:extLst xmlns:a="http://schemas.openxmlformats.org/drawingml/2006/main">
              <a:ext uri="{FF2B5EF4-FFF2-40B4-BE49-F238E27FC236}">
                <a16:creationId xmlns:a16="http://schemas.microsoft.com/office/drawing/2014/main" id="{1948A3BE-A49C-4689-A862-6D6B497B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stage-line-4">
            <a:extLst xmlns:a="http://schemas.openxmlformats.org/drawingml/2006/main">
              <a:ext uri="{FF2B5EF4-FFF2-40B4-BE49-F238E27FC236}">
                <a16:creationId xmlns:a16="http://schemas.microsoft.com/office/drawing/2014/main" id="{CE2E1A84-F378-4597-A991-9EC995C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C8ABFBB2-51C8-42D0-9563-CFDA12BB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第9个月结项</a:t>
            </a:r>
          </a:p>
        </p:txBody>
      </p:sp>
      <p:sp>
        <p:nvSpPr>
          <p:cNvPr id="21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34CA7F84-0C70-4CE2-BA9B-11F5C058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形成下一阶段建议；扩展另行决策</a:t>
            </a:r>
          </a:p>
        </p:txBody>
      </p:sp>
      <p:sp>
        <p:nvSpPr>
          <p:cNvPr id="22" name="pilot-callout-bg">
            <a:extLst xmlns:a="http://schemas.openxmlformats.org/drawingml/2006/main">
              <a:ext uri="{FF2B5EF4-FFF2-40B4-BE49-F238E27FC236}">
                <a16:creationId xmlns:a16="http://schemas.microsoft.com/office/drawing/2014/main" id="{73FA0E61-66B9-4624-AB4A-99727BD6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2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23" name="pilot-callout">
            <a:extLst xmlns:a="http://schemas.openxmlformats.org/drawingml/2006/main">
              <a:ext uri="{FF2B5EF4-FFF2-40B4-BE49-F238E27FC236}">
                <a16:creationId xmlns:a16="http://schemas.microsoft.com/office/drawing/2014/main" id="{6E586CD8-5953-4DAD-B343-98E71451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9个月总周期：前3个月有限试点；第3个月末通过门槛后方可受控扩展。</a:t>
            </a:r>
          </a:p>
        </p:txBody>
      </p:sp>
    </p:spTree>
    <p:extLst>
      <p:ext uri="{BB962C8B-B14F-4D97-AF65-F5344CB8AC3E}">
        <p14:creationId xmlns:p14="http://schemas.microsoft.com/office/powerpoint/2010/main" val="1253370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bar-4">
            <a:extLst xmlns:a="http://schemas.openxmlformats.org/drawingml/2006/main">
              <a:ext uri="{FF2B5EF4-FFF2-40B4-BE49-F238E27FC236}">
                <a16:creationId xmlns:a16="http://schemas.microsoft.com/office/drawing/2014/main" id="{84D99C70-8719-4564-8476-5C5C33C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5D1FF9D8-962F-4023-B564-8E011CBE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03｜投入与预期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EF29AF63-C208-4CEC-B1AA-607BEF0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投入是事实，效果是待验证主张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2132407-BBA2-4CDC-971A-F821A77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F4F9BE29-AAEF-40C9-8F2E-0C4F626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04  ·  教学模拟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C35EC1F-96F6-48C3-AAB9-FF78127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650万元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C8E0C23-537E-4F14-9AA5-A45A9FBE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项目上限</a:t>
            </a:r>
          </a:p>
        </p:txBody>
      </p:sp>
      <p:sp>
        <p:nvSpPr>
          <p:cNvPr id="8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D1B45DE5-EBE4-4C4E-81BC-3BD791E2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事实F09｜CHG-01正式口径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7571C83-B235-4EC3-B867-97932332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9个月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667CD6E-9747-402D-B8DD-08297C7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总周期</a:t>
            </a:r>
          </a:p>
        </p:txBody>
      </p:sp>
      <p:sp>
        <p:nvSpPr>
          <p:cNvPr id="11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7CC98B6D-BF97-48B3-A536-FC302C0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事实F10｜CHG-01正式口径</a:t>
            </a:r>
          </a:p>
        </p:txBody>
      </p:sp>
      <p:sp>
        <p:nvSpPr>
          <p:cNvPr id="1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ADD126B-0D7E-47C9-9AC1-9335D35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供应商效果主张（尚未验证）</a:t>
            </a:r>
          </a:p>
        </p:txBody>
      </p:sp>
      <p:sp>
        <p:nvSpPr>
          <p:cNvPr id="13" name="claim-body">
            <a:extLst xmlns:a="http://schemas.openxmlformats.org/drawingml/2006/main">
              <a:ext uri="{FF2B5EF4-FFF2-40B4-BE49-F238E27FC236}">
                <a16:creationId xmlns:a16="http://schemas.microsoft.com/office/drawing/2014/main" id="{542738AA-DF28-49A2-BD5A-37A8795E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损失下降25%—35%、效率提升30%：尚未验证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误报率45%—50%：尚未验证，漏报与客户影响待确认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情景值900万—1,260万元：非预测/承诺/ROI</a:t>
            </a:r>
          </a:p>
        </p:txBody>
      </p:sp>
      <p:sp>
        <p:nvSpPr>
          <p:cNvPr id="14" name="value-callout-bg">
            <a:extLst xmlns:a="http://schemas.openxmlformats.org/drawingml/2006/main">
              <a:ext uri="{FF2B5EF4-FFF2-40B4-BE49-F238E27FC236}">
                <a16:creationId xmlns:a16="http://schemas.microsoft.com/office/drawing/2014/main" id="{6F4F4EED-9528-4B93-8821-1467821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B3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5" name="value-callout">
            <a:extLst xmlns:a="http://schemas.openxmlformats.org/drawingml/2006/main">
              <a:ext uri="{FF2B5EF4-FFF2-40B4-BE49-F238E27FC236}">
                <a16:creationId xmlns:a16="http://schemas.microsoft.com/office/drawing/2014/main" id="{63CDC8CA-BB60-45EF-9BDF-E48D073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预算与周期为对等硬约束：650万元上限、9个月总周期；前3个月有限试点，第3个月末门槛评审。</a:t>
            </a:r>
          </a:p>
        </p:txBody>
      </p:sp>
    </p:spTree>
    <p:extLst>
      <p:ext uri="{BB962C8B-B14F-4D97-AF65-F5344CB8AC3E}">
        <p14:creationId xmlns:p14="http://schemas.microsoft.com/office/powerpoint/2010/main" val="97208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bar-5">
            <a:extLst xmlns:a="http://schemas.openxmlformats.org/drawingml/2006/main">
              <a:ext uri="{FF2B5EF4-FFF2-40B4-BE49-F238E27FC236}">
                <a16:creationId xmlns:a16="http://schemas.microsoft.com/office/drawing/2014/main" id="{913A7654-8FD5-4354-9550-6E062AD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FCC4EB5-0C3A-4314-99EF-D9B5CAE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04｜评价框架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81BBA4B4-7690-4493-95ED-164A7D77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用平衡指标判断试点，而不是只看拦截数量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8DA3DB20-CD27-4365-B563-7A344CF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08953531-5BBD-4E1D-914D-460CE6C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05  ·  教学模拟</a:t>
            </a:r>
          </a:p>
        </p:txBody>
      </p:sp>
      <p:sp>
        <p:nvSpPr>
          <p:cNvPr id="6" name="indicator-line-0">
            <a:extLst xmlns:a="http://schemas.openxmlformats.org/drawingml/2006/main">
              <a:ext uri="{FF2B5EF4-FFF2-40B4-BE49-F238E27FC236}">
                <a16:creationId xmlns:a16="http://schemas.microsoft.com/office/drawing/2014/main" id="{CA4086D4-13F5-40BF-B74A-E4DAD774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dicator-title-0">
            <a:extLst xmlns:a="http://schemas.openxmlformats.org/drawingml/2006/main">
              <a:ext uri="{FF2B5EF4-FFF2-40B4-BE49-F238E27FC236}">
                <a16:creationId xmlns:a16="http://schemas.microsoft.com/office/drawing/2014/main" id="{CD448B9F-80E1-44EC-9A37-A29221DE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风险结果</a:t>
            </a:r>
          </a:p>
        </p:txBody>
      </p:sp>
      <p:sp>
        <p:nvSpPr>
          <p:cNvPr id="8" name="indicator-body-0">
            <a:extLst xmlns:a="http://schemas.openxmlformats.org/drawingml/2006/main">
              <a:ext uri="{FF2B5EF4-FFF2-40B4-BE49-F238E27FC236}">
                <a16:creationId xmlns:a16="http://schemas.microsoft.com/office/drawing/2014/main" id="{8335A564-2ADF-4A9D-A28D-DB76823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直接损失
漏报</a:t>
            </a:r>
          </a:p>
        </p:txBody>
      </p:sp>
      <p:sp>
        <p:nvSpPr>
          <p:cNvPr id="9" name="indicator-line-1">
            <a:extLst xmlns:a="http://schemas.openxmlformats.org/drawingml/2006/main">
              <a:ext uri="{FF2B5EF4-FFF2-40B4-BE49-F238E27FC236}">
                <a16:creationId xmlns:a16="http://schemas.microsoft.com/office/drawing/2014/main" id="{D1C82E6F-8980-4DD7-9066-070DA0F8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dicator-title-1">
            <a:extLst xmlns:a="http://schemas.openxmlformats.org/drawingml/2006/main">
              <a:ext uri="{FF2B5EF4-FFF2-40B4-BE49-F238E27FC236}">
                <a16:creationId xmlns:a16="http://schemas.microsoft.com/office/drawing/2014/main" id="{1B2521EC-B4A3-40B6-A2FF-ACCE1925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准确性</a:t>
            </a:r>
          </a:p>
        </p:txBody>
      </p:sp>
      <p:sp>
        <p:nvSpPr>
          <p:cNvPr id="11" name="indicator-body-1">
            <a:extLst xmlns:a="http://schemas.openxmlformats.org/drawingml/2006/main">
              <a:ext uri="{FF2B5EF4-FFF2-40B4-BE49-F238E27FC236}">
                <a16:creationId xmlns:a16="http://schemas.microsoft.com/office/drawing/2014/main" id="{C97C41AD-15A2-439F-9884-3D4E2B6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误报率
确认欺诈率</a:t>
            </a:r>
          </a:p>
        </p:txBody>
      </p:sp>
      <p:sp>
        <p:nvSpPr>
          <p:cNvPr id="12" name="indicator-line-2">
            <a:extLst xmlns:a="http://schemas.openxmlformats.org/drawingml/2006/main">
              <a:ext uri="{FF2B5EF4-FFF2-40B4-BE49-F238E27FC236}">
                <a16:creationId xmlns:a16="http://schemas.microsoft.com/office/drawing/2014/main" id="{11ACC67C-7709-4A66-A715-77BFD5E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dicator-title-2">
            <a:extLst xmlns:a="http://schemas.openxmlformats.org/drawingml/2006/main">
              <a:ext uri="{FF2B5EF4-FFF2-40B4-BE49-F238E27FC236}">
                <a16:creationId xmlns:a16="http://schemas.microsoft.com/office/drawing/2014/main" id="{102A3D10-0222-4C13-9936-8BCA54D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14" name="indicator-body-2">
            <a:extLst xmlns:a="http://schemas.openxmlformats.org/drawingml/2006/main">
              <a:ext uri="{FF2B5EF4-FFF2-40B4-BE49-F238E27FC236}">
                <a16:creationId xmlns:a16="http://schemas.microsoft.com/office/drawing/2014/main" id="{B4200364-DC77-4C45-903A-BFBF747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审核时长
审核工时</a:t>
            </a:r>
          </a:p>
        </p:txBody>
      </p:sp>
      <p:sp>
        <p:nvSpPr>
          <p:cNvPr id="15" name="indicator-line-3">
            <a:extLst xmlns:a="http://schemas.openxmlformats.org/drawingml/2006/main">
              <a:ext uri="{FF2B5EF4-FFF2-40B4-BE49-F238E27FC236}">
                <a16:creationId xmlns:a16="http://schemas.microsoft.com/office/drawing/2014/main" id="{FB55A302-4BE9-4979-8878-079AA9F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dicator-title-3">
            <a:extLst xmlns:a="http://schemas.openxmlformats.org/drawingml/2006/main">
              <a:ext uri="{FF2B5EF4-FFF2-40B4-BE49-F238E27FC236}">
                <a16:creationId xmlns:a16="http://schemas.microsoft.com/office/drawing/2014/main" id="{F4F1A4F6-D19E-414B-9CAF-51199A76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客户影响</a:t>
            </a:r>
          </a:p>
        </p:txBody>
      </p:sp>
      <p:sp>
        <p:nvSpPr>
          <p:cNvPr id="17" name="indicator-body-3">
            <a:extLst xmlns:a="http://schemas.openxmlformats.org/drawingml/2006/main">
              <a:ext uri="{FF2B5EF4-FFF2-40B4-BE49-F238E27FC236}">
                <a16:creationId xmlns:a16="http://schemas.microsoft.com/office/drawing/2014/main" id="{FC736B56-1ECF-4D81-B981-563A1AAF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交易受阻
投诉与争议</a:t>
            </a:r>
          </a:p>
        </p:txBody>
      </p:sp>
      <p:sp>
        <p:nvSpPr>
          <p:cNvPr id="18" name="indicator-line-4">
            <a:extLst xmlns:a="http://schemas.openxmlformats.org/drawingml/2006/main">
              <a:ext uri="{FF2B5EF4-FFF2-40B4-BE49-F238E27FC236}">
                <a16:creationId xmlns:a16="http://schemas.microsoft.com/office/drawing/2014/main" id="{23B6EEF8-90FE-403F-B22D-30CAAFC2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17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dicator-title-4">
            <a:extLst xmlns:a="http://schemas.openxmlformats.org/drawingml/2006/main">
              <a:ext uri="{FF2B5EF4-FFF2-40B4-BE49-F238E27FC236}">
                <a16:creationId xmlns:a16="http://schemas.microsoft.com/office/drawing/2014/main" id="{7A68A7CC-59FA-4CC8-AA62-DD9543D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20" name="indicator-body-4">
            <a:extLst xmlns:a="http://schemas.openxmlformats.org/drawingml/2006/main">
              <a:ext uri="{FF2B5EF4-FFF2-40B4-BE49-F238E27FC236}">
                <a16:creationId xmlns:a16="http://schemas.microsoft.com/office/drawing/2014/main" id="{3AC6E20F-CDC7-4E47-9D4C-46689E6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解释稳定性
审计与漂移</a:t>
            </a:r>
          </a:p>
        </p:txBody>
      </p:sp>
      <p:sp>
        <p:nvSpPr>
          <p:cNvPr id="21" name="metric-callout-bg">
            <a:extLst xmlns:a="http://schemas.openxmlformats.org/drawingml/2006/main">
              <a:ext uri="{FF2B5EF4-FFF2-40B4-BE49-F238E27FC236}">
                <a16:creationId xmlns:a16="http://schemas.microsoft.com/office/drawing/2014/main" id="{116F8251-7D59-4688-9B9C-F3D4DDE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2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22" name="metric-callout">
            <a:extLst xmlns:a="http://schemas.openxmlformats.org/drawingml/2006/main">
              <a:ext uri="{FF2B5EF4-FFF2-40B4-BE49-F238E27FC236}">
                <a16:creationId xmlns:a16="http://schemas.microsoft.com/office/drawing/2014/main" id="{8FCD1F5F-EA2C-40F4-8F7C-173DC002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第3个月末门槛：先确认指标口径；平衡指标、客户影响和治理均达标才讨论扩展。</a:t>
            </a:r>
          </a:p>
        </p:txBody>
      </p:sp>
    </p:spTree>
    <p:extLst>
      <p:ext uri="{BB962C8B-B14F-4D97-AF65-F5344CB8AC3E}">
        <p14:creationId xmlns:p14="http://schemas.microsoft.com/office/powerpoint/2010/main" val="1887161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bar-6">
            <a:extLst xmlns:a="http://schemas.openxmlformats.org/drawingml/2006/main">
              <a:ext uri="{FF2B5EF4-FFF2-40B4-BE49-F238E27FC236}">
                <a16:creationId xmlns:a16="http://schemas.microsoft.com/office/drawing/2014/main" id="{92295D20-34ED-47A0-85AC-2B50801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24349225-D8B2-4A2F-99D9-2C0F90DB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05｜风险与治理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29ED9114-2AD6-45FE-80D7-12D9B43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风险治理决定试点能否安全开展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8505F747-883F-4B76-8CFD-144F3B1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DDEEB6E9-616B-4979-A271-2D616B33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06  ·  教学模拟</a:t>
            </a:r>
          </a:p>
        </p:txBody>
      </p:sp>
      <p:sp>
        <p:nvSpPr>
          <p:cNvPr id="6" name="risk-head1">
            <a:extLst xmlns:a="http://schemas.openxmlformats.org/drawingml/2006/main">
              <a:ext uri="{FF2B5EF4-FFF2-40B4-BE49-F238E27FC236}">
                <a16:creationId xmlns:a16="http://schemas.microsoft.com/office/drawing/2014/main" id="{A35023A6-358F-40F6-850A-11B067EF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7" name="risk-head2">
            <a:extLst xmlns:a="http://schemas.openxmlformats.org/drawingml/2006/main">
              <a:ext uri="{FF2B5EF4-FFF2-40B4-BE49-F238E27FC236}">
                <a16:creationId xmlns:a16="http://schemas.microsoft.com/office/drawing/2014/main" id="{2988042B-5530-4721-8BB0-2041440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控制措施</a:t>
            </a:r>
          </a:p>
        </p:txBody>
      </p:sp>
      <p:sp>
        <p:nvSpPr>
          <p:cNvPr id="8" name="risk-head3">
            <a:extLst xmlns:a="http://schemas.openxmlformats.org/drawingml/2006/main">
              <a:ext uri="{FF2B5EF4-FFF2-40B4-BE49-F238E27FC236}">
                <a16:creationId xmlns:a16="http://schemas.microsoft.com/office/drawing/2014/main" id="{E558D88C-858C-4383-94AA-8855888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责任方</a:t>
            </a:r>
          </a:p>
        </p:txBody>
      </p:sp>
      <p:sp>
        <p:nvSpPr>
          <p:cNvPr id="9" name="risk-1">
            <a:extLst xmlns:a="http://schemas.openxmlformats.org/drawingml/2006/main">
              <a:ext uri="{FF2B5EF4-FFF2-40B4-BE49-F238E27FC236}">
                <a16:creationId xmlns:a16="http://schemas.microsoft.com/office/drawing/2014/main" id="{98FCE47A-D331-4B9B-B678-7F01C03B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数据隐私与用途扩张</a:t>
            </a:r>
          </a:p>
        </p:txBody>
      </p:sp>
      <p:sp>
        <p:nvSpPr>
          <p:cNvPr id="10" name="control-1">
            <a:extLst xmlns:a="http://schemas.openxmlformats.org/drawingml/2006/main">
              <a:ext uri="{FF2B5EF4-FFF2-40B4-BE49-F238E27FC236}">
                <a16:creationId xmlns:a16="http://schemas.microsoft.com/office/drawing/2014/main" id="{2427FE4B-6B16-4928-853D-F39ED5E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最小必要、用途限定、权限与日志；授权不清即不启动</a:t>
            </a:r>
          </a:p>
        </p:txBody>
      </p:sp>
      <p:sp>
        <p:nvSpPr>
          <p:cNvPr id="11" name="owner-1">
            <a:extLst xmlns:a="http://schemas.openxmlformats.org/drawingml/2006/main">
              <a:ext uri="{FF2B5EF4-FFF2-40B4-BE49-F238E27FC236}">
                <a16:creationId xmlns:a16="http://schemas.microsoft.com/office/drawing/2014/main" id="{2E735CC4-DA3D-4BEB-9309-1C588E3E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合规/数据治理</a:t>
            </a:r>
          </a:p>
        </p:txBody>
      </p:sp>
      <p:sp>
        <p:nvSpPr>
          <p:cNvPr id="12" name="risk-rule-1">
            <a:extLst xmlns:a="http://schemas.openxmlformats.org/drawingml/2006/main">
              <a:ext uri="{FF2B5EF4-FFF2-40B4-BE49-F238E27FC236}">
                <a16:creationId xmlns:a16="http://schemas.microsoft.com/office/drawing/2014/main" id="{B2911CF2-42B5-4AEA-8251-D626AB6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2">
            <a:extLst xmlns:a="http://schemas.openxmlformats.org/drawingml/2006/main">
              <a:ext uri="{FF2B5EF4-FFF2-40B4-BE49-F238E27FC236}">
                <a16:creationId xmlns:a16="http://schemas.microsoft.com/office/drawing/2014/main" id="{194DCF72-3187-49FB-9711-500F7187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误报、漏报与客户争议</a:t>
            </a:r>
          </a:p>
        </p:txBody>
      </p:sp>
      <p:sp>
        <p:nvSpPr>
          <p:cNvPr id="14" name="control-2">
            <a:extLst xmlns:a="http://schemas.openxmlformats.org/drawingml/2006/main">
              <a:ext uri="{FF2B5EF4-FFF2-40B4-BE49-F238E27FC236}">
                <a16:creationId xmlns:a16="http://schemas.microsoft.com/office/drawing/2014/main" id="{78221925-99AB-43A6-9B22-81FE149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规则并行、人工复核、投诉升级；指标越界即停用</a:t>
            </a:r>
          </a:p>
        </p:txBody>
      </p:sp>
      <p:sp>
        <p:nvSpPr>
          <p:cNvPr id="15" name="owner-2">
            <a:extLst xmlns:a="http://schemas.openxmlformats.org/drawingml/2006/main">
              <a:ext uri="{FF2B5EF4-FFF2-40B4-BE49-F238E27FC236}">
                <a16:creationId xmlns:a16="http://schemas.microsoft.com/office/drawing/2014/main" id="{F5E920C1-87C4-438D-B1CF-64EB4E28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风控/客户运营</a:t>
            </a:r>
          </a:p>
        </p:txBody>
      </p:sp>
      <p:sp>
        <p:nvSpPr>
          <p:cNvPr id="16" name="risk-rule-2">
            <a:extLst xmlns:a="http://schemas.openxmlformats.org/drawingml/2006/main">
              <a:ext uri="{FF2B5EF4-FFF2-40B4-BE49-F238E27FC236}">
                <a16:creationId xmlns:a16="http://schemas.microsoft.com/office/drawing/2014/main" id="{525932FB-08B9-4621-A3D6-2D8C86B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3">
            <a:extLst xmlns:a="http://schemas.openxmlformats.org/drawingml/2006/main">
              <a:ext uri="{FF2B5EF4-FFF2-40B4-BE49-F238E27FC236}">
                <a16:creationId xmlns:a16="http://schemas.microsoft.com/office/drawing/2014/main" id="{12DB8AA1-5957-4A25-A1D8-373B995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解释不足、漂移与审计</a:t>
            </a:r>
          </a:p>
        </p:txBody>
      </p:sp>
      <p:sp>
        <p:nvSpPr>
          <p:cNvPr id="18" name="control-3">
            <a:extLst xmlns:a="http://schemas.openxmlformats.org/drawingml/2006/main">
              <a:ext uri="{FF2B5EF4-FFF2-40B4-BE49-F238E27FC236}">
                <a16:creationId xmlns:a16="http://schemas.microsoft.com/office/drawing/2014/main" id="{6C2A643D-8C56-4D2D-B4BC-7AACEA1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理由码、版本与日志、漂移监控、定期复评</a:t>
            </a:r>
          </a:p>
        </p:txBody>
      </p:sp>
      <p:sp>
        <p:nvSpPr>
          <p:cNvPr id="19" name="owner-3">
            <a:extLst xmlns:a="http://schemas.openxmlformats.org/drawingml/2006/main">
              <a:ext uri="{FF2B5EF4-FFF2-40B4-BE49-F238E27FC236}">
                <a16:creationId xmlns:a16="http://schemas.microsoft.com/office/drawing/2014/main" id="{33DC337D-02D5-45A0-998C-C78EEC7B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IT/模型风险/合规</a:t>
            </a:r>
          </a:p>
        </p:txBody>
      </p:sp>
      <p:sp>
        <p:nvSpPr>
          <p:cNvPr id="20" name="risk-rule-3">
            <a:extLst xmlns:a="http://schemas.openxmlformats.org/drawingml/2006/main">
              <a:ext uri="{FF2B5EF4-FFF2-40B4-BE49-F238E27FC236}">
                <a16:creationId xmlns:a16="http://schemas.microsoft.com/office/drawing/2014/main" id="{A9D6812B-41EE-421E-8C4B-BAC033D8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isk-4">
            <a:extLst xmlns:a="http://schemas.openxmlformats.org/drawingml/2006/main">
              <a:ext uri="{FF2B5EF4-FFF2-40B4-BE49-F238E27FC236}">
                <a16:creationId xmlns:a16="http://schemas.microsoft.com/office/drawing/2014/main" id="{6992C7DC-7E0A-44A3-950B-1299B8F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供应商依赖</a:t>
            </a:r>
          </a:p>
        </p:txBody>
      </p:sp>
      <p:sp>
        <p:nvSpPr>
          <p:cNvPr id="22" name="control-4">
            <a:extLst xmlns:a="http://schemas.openxmlformats.org/drawingml/2006/main">
              <a:ext uri="{FF2B5EF4-FFF2-40B4-BE49-F238E27FC236}">
                <a16:creationId xmlns:a16="http://schemas.microsoft.com/office/drawing/2014/main" id="{C13B675B-2F88-4C0C-BFCF-D80B715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开放接口、交付验收、迁移与退出条款</a:t>
            </a:r>
          </a:p>
        </p:txBody>
      </p:sp>
      <p:sp>
        <p:nvSpPr>
          <p:cNvPr id="23" name="owner-4">
            <a:extLst xmlns:a="http://schemas.openxmlformats.org/drawingml/2006/main">
              <a:ext uri="{FF2B5EF4-FFF2-40B4-BE49-F238E27FC236}">
                <a16:creationId xmlns:a16="http://schemas.microsoft.com/office/drawing/2014/main" id="{E8E992CA-3CB2-4CF3-ACAC-DF5919EC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采购/IT</a:t>
            </a:r>
          </a:p>
        </p:txBody>
      </p:sp>
      <p:sp>
        <p:nvSpPr>
          <p:cNvPr id="24" name="risk-rule-4">
            <a:extLst xmlns:a="http://schemas.openxmlformats.org/drawingml/2006/main">
              <a:ext uri="{FF2B5EF4-FFF2-40B4-BE49-F238E27FC236}">
                <a16:creationId xmlns:a16="http://schemas.microsoft.com/office/drawing/2014/main" id="{FC78FC4E-1F60-4582-9F77-B0EC6FD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isk-callout-bg">
            <a:extLst xmlns:a="http://schemas.openxmlformats.org/drawingml/2006/main">
              <a:ext uri="{FF2B5EF4-FFF2-40B4-BE49-F238E27FC236}">
                <a16:creationId xmlns:a16="http://schemas.microsoft.com/office/drawing/2014/main" id="{63D3D9C1-AC37-4209-B415-B6B0986C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B3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26" name="risk-callout">
            <a:extLst xmlns:a="http://schemas.openxmlformats.org/drawingml/2006/main">
              <a:ext uri="{FF2B5EF4-FFF2-40B4-BE49-F238E27FC236}">
                <a16:creationId xmlns:a16="http://schemas.microsoft.com/office/drawing/2014/main" id="{D2076C6D-49CB-4BC3-BCC9-C201B2D5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预算与周期压缩不压缩控制：授权、人工复核、审计、监控和退出机制必须保留。</a:t>
            </a:r>
          </a:p>
        </p:txBody>
      </p:sp>
    </p:spTree>
    <p:extLst>
      <p:ext uri="{BB962C8B-B14F-4D97-AF65-F5344CB8AC3E}">
        <p14:creationId xmlns:p14="http://schemas.microsoft.com/office/powerpoint/2010/main" val="147192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bar-7">
            <a:extLst xmlns:a="http://schemas.openxmlformats.org/drawingml/2006/main">
              <a:ext uri="{FF2B5EF4-FFF2-40B4-BE49-F238E27FC236}">
                <a16:creationId xmlns:a16="http://schemas.microsoft.com/office/drawing/2014/main" id="{14E3CD60-B31B-4964-8DC5-31F87FB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0CBE7A47-7A3B-4543-82A1-F1F26CF3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06｜待决策事项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1AAC21F3-9A46-4C12-8736-DEC6E86C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本次会议需要批准什么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07C08251-3F33-4BD1-BF84-BAB1828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B518303D-5733-4A76-AD41-FF51AB3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07  ·  教学模拟</a:t>
            </a:r>
          </a:p>
        </p:txBody>
      </p:sp>
      <p:sp>
        <p:nvSpPr>
          <p:cNvPr id="6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59320A1D-54EB-4CE8-A5D4-17189D7D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decision-1">
            <a:extLst xmlns:a="http://schemas.openxmlformats.org/drawingml/2006/main">
              <a:ext uri="{FF2B5EF4-FFF2-40B4-BE49-F238E27FC236}">
                <a16:creationId xmlns:a16="http://schemas.microsoft.com/office/drawing/2014/main" id="{2E6944E2-1754-47E9-83D8-57BAA95F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62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批准受控试点</a:t>
            </a:r>
          </a:p>
        </p:txBody>
      </p:sp>
      <p:sp>
        <p:nvSpPr>
          <p:cNvPr id="8" name="condition-1">
            <a:extLst xmlns:a="http://schemas.openxmlformats.org/drawingml/2006/main">
              <a:ext uri="{FF2B5EF4-FFF2-40B4-BE49-F238E27FC236}">
                <a16:creationId xmlns:a16="http://schemas.microsoft.com/office/drawing/2014/main" id="{A7DBBE92-74CD-4FAB-AA7F-0CC33D0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650万元上限｜9个月；未明确纳入成本另行确认</a:t>
            </a:r>
          </a:p>
        </p:txBody>
      </p:sp>
      <p:sp>
        <p:nvSpPr>
          <p:cNvPr id="9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E6D1920D-4E03-4963-8673-7F655D48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decision-2">
            <a:extLst xmlns:a="http://schemas.openxmlformats.org/drawingml/2006/main">
              <a:ext uri="{FF2B5EF4-FFF2-40B4-BE49-F238E27FC236}">
                <a16:creationId xmlns:a16="http://schemas.microsoft.com/office/drawing/2014/main" id="{49210708-B974-4269-A1A2-1411C02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批准业务边界</a:t>
            </a:r>
          </a:p>
        </p:txBody>
      </p:sp>
      <p:sp>
        <p:nvSpPr>
          <p:cNvPr id="11" name="condition-2">
            <a:extLst xmlns:a="http://schemas.openxmlformats.org/drawingml/2006/main">
              <a:ext uri="{FF2B5EF4-FFF2-40B4-BE49-F238E27FC236}">
                <a16:creationId xmlns:a16="http://schemas.microsoft.com/office/drawing/2014/main" id="{DD2FE721-4B26-43A6-96C9-CB94DA35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有限场景｜规则并行｜人工最终复核</a:t>
            </a:r>
          </a:p>
        </p:txBody>
      </p:sp>
      <p:sp>
        <p:nvSpPr>
          <p:cNvPr id="12" name="decision-num-3">
            <a:extLst xmlns:a="http://schemas.openxmlformats.org/drawingml/2006/main">
              <a:ext uri="{FF2B5EF4-FFF2-40B4-BE49-F238E27FC236}">
                <a16:creationId xmlns:a16="http://schemas.microsoft.com/office/drawing/2014/main" id="{2C561141-5628-4A15-8A52-271BC75E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decision-3">
            <a:extLst xmlns:a="http://schemas.openxmlformats.org/drawingml/2006/main">
              <a:ext uri="{FF2B5EF4-FFF2-40B4-BE49-F238E27FC236}">
                <a16:creationId xmlns:a16="http://schemas.microsoft.com/office/drawing/2014/main" id="{041F9BC1-77C4-4BC4-9D8A-6F8758D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86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授权数据准备</a:t>
            </a:r>
          </a:p>
        </p:txBody>
      </p:sp>
      <p:sp>
        <p:nvSpPr>
          <p:cNvPr id="14" name="condition-3">
            <a:extLst xmlns:a="http://schemas.openxmlformats.org/drawingml/2006/main">
              <a:ext uri="{FF2B5EF4-FFF2-40B4-BE49-F238E27FC236}">
                <a16:creationId xmlns:a16="http://schemas.microsoft.com/office/drawing/2014/main" id="{86D073D9-AE81-4625-85BA-DA3E2F4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合规确认用途、范围和保存期限后启动</a:t>
            </a:r>
          </a:p>
        </p:txBody>
      </p:sp>
      <p:sp>
        <p:nvSpPr>
          <p:cNvPr id="15" name="decision-num-4">
            <a:extLst xmlns:a="http://schemas.openxmlformats.org/drawingml/2006/main">
              <a:ext uri="{FF2B5EF4-FFF2-40B4-BE49-F238E27FC236}">
                <a16:creationId xmlns:a16="http://schemas.microsoft.com/office/drawing/2014/main" id="{2CD50B6A-7424-4D48-A3FC-76A4F96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decision-4">
            <a:extLst xmlns:a="http://schemas.openxmlformats.org/drawingml/2006/main">
              <a:ext uri="{FF2B5EF4-FFF2-40B4-BE49-F238E27FC236}">
                <a16:creationId xmlns:a16="http://schemas.microsoft.com/office/drawing/2014/main" id="{3C1D7EA9-AFAF-421E-8FC5-E69D078C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批准门槛治理</a:t>
            </a:r>
          </a:p>
        </p:txBody>
      </p:sp>
      <p:sp>
        <p:nvSpPr>
          <p:cNvPr id="17" name="condition-4">
            <a:extLst xmlns:a="http://schemas.openxmlformats.org/drawingml/2006/main">
              <a:ext uri="{FF2B5EF4-FFF2-40B4-BE49-F238E27FC236}">
                <a16:creationId xmlns:a16="http://schemas.microsoft.com/office/drawing/2014/main" id="{134B44A8-EDDF-4E50-A2B4-C658EC4A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第3个月末评审；未通过不得扩展</a:t>
            </a:r>
          </a:p>
        </p:txBody>
      </p:sp>
      <p:sp>
        <p:nvSpPr>
          <p:cNvPr id="18" name="decision-callout-bg">
            <a:extLst xmlns:a="http://schemas.openxmlformats.org/drawingml/2006/main">
              <a:ext uri="{FF2B5EF4-FFF2-40B4-BE49-F238E27FC236}">
                <a16:creationId xmlns:a16="http://schemas.microsoft.com/office/drawing/2014/main" id="{ACEB601E-6A47-408D-ADF3-71D644D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9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936401C8-2012-406B-B00C-3A80429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建议：有条件批准受控试点；650万元不自动覆盖内部人员、治理整改、长期运维、额外接口及退出迁移成本。</a:t>
            </a:r>
          </a:p>
        </p:txBody>
      </p:sp>
    </p:spTree>
    <p:extLst>
      <p:ext uri="{BB962C8B-B14F-4D97-AF65-F5344CB8AC3E}">
        <p14:creationId xmlns:p14="http://schemas.microsoft.com/office/powerpoint/2010/main" val="1911801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bar-8">
            <a:extLst xmlns:a="http://schemas.openxmlformats.org/drawingml/2006/main">
              <a:ext uri="{FF2B5EF4-FFF2-40B4-BE49-F238E27FC236}">
                <a16:creationId xmlns:a16="http://schemas.microsoft.com/office/drawing/2014/main" id="{A1BC03E0-72FE-46F5-80FD-DDF4F97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05FC8950-0461-44D0-AA50-0B73FCD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附录｜证据边界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E765E6F1-54B1-4495-AD24-E134294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数据来源与待确认项</a:t>
            </a:r>
          </a:p>
        </p:txBody>
      </p:sp>
      <p:sp>
        <p:nvSpPr>
          <p:cNvPr id="4" name="rule-8">
            <a:extLst xmlns:a="http://schemas.openxmlformats.org/drawingml/2006/main">
              <a:ext uri="{FF2B5EF4-FFF2-40B4-BE49-F238E27FC236}">
                <a16:creationId xmlns:a16="http://schemas.microsoft.com/office/drawing/2014/main" id="{B25251DE-A617-4E67-BDDE-8FFED04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EF626626-D94B-4404-8653-8C01F562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08  ·  教学模拟</a:t>
            </a:r>
          </a:p>
        </p:txBody>
      </p:sp>
      <p:sp>
        <p:nvSpPr>
          <p:cNvPr id="6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44E235C6-53A0-4E06-8B40-F51BB23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关键来源</a:t>
            </a:r>
          </a:p>
        </p:txBody>
      </p:sp>
      <p:sp>
        <p:nvSpPr>
          <p:cNvPr id="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86D70F1C-7ECA-4075-8FAC-25AA343A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管理层变更卡：650万元、9个月及试点门槛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项目事实表：业务数字与公式唯一口径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供应商摘要：效果尚未验证；不承担最终处置责任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证据优先级：CHG-01＞正式事实＞供应商主张</a:t>
            </a:r>
          </a:p>
        </p:txBody>
      </p:sp>
      <p:sp>
        <p:nvSpPr>
          <p:cNvPr id="8" name="tbc-title">
            <a:extLst xmlns:a="http://schemas.openxmlformats.org/drawingml/2006/main">
              <a:ext uri="{FF2B5EF4-FFF2-40B4-BE49-F238E27FC236}">
                <a16:creationId xmlns:a16="http://schemas.microsoft.com/office/drawing/2014/main" id="{1A374879-8F7E-430C-A383-FA17B52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9" name="tbc-body">
            <a:extLst xmlns:a="http://schemas.openxmlformats.org/drawingml/2006/main">
              <a:ext uri="{FF2B5EF4-FFF2-40B4-BE49-F238E27FC236}">
                <a16:creationId xmlns:a16="http://schemas.microsoft.com/office/drawing/2014/main" id="{EF135183-3CC6-480B-868B-F69D7DF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650万元未明确包括：银行内部人员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数据治理整改与长期运维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额外接口及退出迁移成本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数据授权、接口质量、漏报和客户影响仍待确认</a:t>
            </a:r>
          </a:p>
        </p:txBody>
      </p:sp>
      <p:sp>
        <p:nvSpPr>
          <p:cNvPr id="10" name="appendix-callout-bg">
            <a:extLst xmlns:a="http://schemas.openxmlformats.org/drawingml/2006/main">
              <a:ext uri="{FF2B5EF4-FFF2-40B4-BE49-F238E27FC236}">
                <a16:creationId xmlns:a16="http://schemas.microsoft.com/office/drawing/2014/main" id="{DA2CEA34-FBD2-4F4C-93D8-B979079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2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1" name="appendix-callout">
            <a:extLst xmlns:a="http://schemas.openxmlformats.org/drawingml/2006/main">
              <a:ext uri="{FF2B5EF4-FFF2-40B4-BE49-F238E27FC236}">
                <a16:creationId xmlns:a16="http://schemas.microsoft.com/office/drawing/2014/main" id="{DF9F0604-0C04-4A88-9B89-50A527FF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证据边界：650万元不自动覆盖上述5项成本；其他业务事实不变；供应商效果尚未验证。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308511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2026-07-23T09:39:27.4230000Z</dcterms:created>
  <dcterms:modified xsi:type="dcterms:W3CDTF">2026-07-23T09:39:27.4230000Z</dcterms:modified>
</coreProperties>
</file>