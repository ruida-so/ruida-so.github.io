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2dc59db50d48d2" /><Relationship Type="http://schemas.openxmlformats.org/officeDocument/2006/relationships/extended-properties" Target="/docProps/app.xml" Id="Re00e0b7bf6a549d5" /><Relationship Type="http://schemas.openxmlformats.org/officeDocument/2006/relationships/officeDocument" Target="/ppt/presentation.xml" Id="R5e4145c035d34b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676fdc50ae4c47"/>
  </p:sldMasterIdLst>
  <p:notesMasterIdLst>
    <p:notesMasterId xmlns:r="http://schemas.openxmlformats.org/officeDocument/2006/relationships" r:id="R1fa32d1036b54c93"/>
  </p:notesMasterIdLst>
  <p:sldIdLst>
    <p:sldId xmlns:r="http://schemas.openxmlformats.org/officeDocument/2006/relationships" id="256" r:id="Re098e088232f4385"/>
    <p:sldId xmlns:r="http://schemas.openxmlformats.org/officeDocument/2006/relationships" id="257" r:id="R36c66e0d1f774fe2"/>
    <p:sldId xmlns:r="http://schemas.openxmlformats.org/officeDocument/2006/relationships" id="258" r:id="R9a3ca462437d45cd"/>
    <p:sldId xmlns:r="http://schemas.openxmlformats.org/officeDocument/2006/relationships" id="259" r:id="R909f2229e74940c3"/>
    <p:sldId xmlns:r="http://schemas.openxmlformats.org/officeDocument/2006/relationships" id="260" r:id="Rb8de21ab66a3418a"/>
    <p:sldId xmlns:r="http://schemas.openxmlformats.org/officeDocument/2006/relationships" id="261" r:id="R717e372b4d8f4801"/>
    <p:sldId xmlns:r="http://schemas.openxmlformats.org/officeDocument/2006/relationships" id="262" r:id="R132e04eb555540bd"/>
    <p:sldId xmlns:r="http://schemas.openxmlformats.org/officeDocument/2006/relationships" id="263" r:id="R45514a5913814c25"/>
    <p:sldId xmlns:r="http://schemas.openxmlformats.org/officeDocument/2006/relationships" id="264" r:id="Rc5461db4eff04ba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65b2424a564a60" /><Relationship Type="http://schemas.openxmlformats.org/officeDocument/2006/relationships/slideMaster" Target="/ppt/slideMasters/slideMaster1.xml" Id="R9d676fdc50ae4c47" /><Relationship Type="http://schemas.openxmlformats.org/officeDocument/2006/relationships/notesMaster" Target="/ppt/notesMasters/notesMaster1.xml" Id="R1fa32d1036b54c93" /><Relationship Type="http://schemas.openxmlformats.org/officeDocument/2006/relationships/presProps" Target="/ppt/presProps.xml" Id="Rf6561ae83b984817" /><Relationship Type="http://schemas.openxmlformats.org/officeDocument/2006/relationships/tableStyles" Target="/ppt/tableStyles.xml" Id="R8fed5163ccf441fa" /><Relationship Type="http://schemas.openxmlformats.org/officeDocument/2006/relationships/slide" Target="/ppt/slides/slide1.xml" Id="Re098e088232f4385" /><Relationship Type="http://schemas.openxmlformats.org/officeDocument/2006/relationships/slide" Target="/ppt/slides/slide2.xml" Id="R36c66e0d1f774fe2" /><Relationship Type="http://schemas.openxmlformats.org/officeDocument/2006/relationships/slide" Target="/ppt/slides/slide3.xml" Id="R9a3ca462437d45cd" /><Relationship Type="http://schemas.openxmlformats.org/officeDocument/2006/relationships/slide" Target="/ppt/slides/slide4.xml" Id="R909f2229e74940c3" /><Relationship Type="http://schemas.openxmlformats.org/officeDocument/2006/relationships/slide" Target="/ppt/slides/slide5.xml" Id="Rb8de21ab66a3418a" /><Relationship Type="http://schemas.openxmlformats.org/officeDocument/2006/relationships/slide" Target="/ppt/slides/slide6.xml" Id="R717e372b4d8f4801" /><Relationship Type="http://schemas.openxmlformats.org/officeDocument/2006/relationships/slide" Target="/ppt/slides/slide7.xml" Id="R132e04eb555540bd" /><Relationship Type="http://schemas.openxmlformats.org/officeDocument/2006/relationships/slide" Target="/ppt/slides/slide8.xml" Id="R45514a5913814c25" /><Relationship Type="http://schemas.openxmlformats.org/officeDocument/2006/relationships/slide" Target="/ppt/slides/slide9.xml" Id="Rc5461db4eff04b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a9ba834a544b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578132aec04519" /><Relationship Type="http://schemas.openxmlformats.org/officeDocument/2006/relationships/notesMaster" Target="/ppt/notesMasters/notesMaster1.xml" Id="Rf6fed22465034c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4c804b1e0d405b" /><Relationship Type="http://schemas.openxmlformats.org/officeDocument/2006/relationships/notesMaster" Target="/ppt/notesMasters/notesMaster1.xml" Id="R1281011b8bf847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c8430ff8a24fca" /><Relationship Type="http://schemas.openxmlformats.org/officeDocument/2006/relationships/notesMaster" Target="/ppt/notesMasters/notesMaster1.xml" Id="R9e7680663cbb4a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2935d765594010" /><Relationship Type="http://schemas.openxmlformats.org/officeDocument/2006/relationships/notesMaster" Target="/ppt/notesMasters/notesMaster1.xml" Id="Rb76fe07759564c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4f5c4b71a8457f" /><Relationship Type="http://schemas.openxmlformats.org/officeDocument/2006/relationships/notesMaster" Target="/ppt/notesMasters/notesMaster1.xml" Id="Rf1c11698ba7947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72732d73014d55" /><Relationship Type="http://schemas.openxmlformats.org/officeDocument/2006/relationships/notesMaster" Target="/ppt/notesMasters/notesMaster1.xml" Id="Ra93bf28e662c438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d570a007ab4347" /><Relationship Type="http://schemas.openxmlformats.org/officeDocument/2006/relationships/notesMaster" Target="/ppt/notesMasters/notesMaster1.xml" Id="R147a390e4e3040c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1533964a0984f2d" /><Relationship Type="http://schemas.openxmlformats.org/officeDocument/2006/relationships/notesMaster" Target="/ppt/notesMasters/notesMaster1.xml" Id="R30d5576f98e444a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025ebb02bb548d6" /><Relationship Type="http://schemas.openxmlformats.org/officeDocument/2006/relationships/notesMaster" Target="/ppt/notesMasters/notesMaster1.xml" Id="R1f29b9eda33041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77365c3b5446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cb92e9f4d24fd7" /><Relationship Type="http://schemas.openxmlformats.org/officeDocument/2006/relationships/slideLayout" Target="/ppt/slideLayouts/slideLayout1.xml" Id="Re7fc84ee476247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fc84ee476247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5e3b8020ee40f3" /><Relationship Type="http://schemas.openxmlformats.org/officeDocument/2006/relationships/notesSlide" Target="/ppt/notesSlides/notesSlide1.xml" Id="R53d0b1cfbda44a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ebb94b7bb841d9" /><Relationship Type="http://schemas.openxmlformats.org/officeDocument/2006/relationships/notesSlide" Target="/ppt/notesSlides/notesSlide2.xml" Id="R770dd1be363c40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8d488e7b2f4b23" /><Relationship Type="http://schemas.openxmlformats.org/officeDocument/2006/relationships/notesSlide" Target="/ppt/notesSlides/notesSlide3.xml" Id="Rca177b1a610846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fdd3a4821a44cc" /><Relationship Type="http://schemas.openxmlformats.org/officeDocument/2006/relationships/notesSlide" Target="/ppt/notesSlides/notesSlide4.xml" Id="Rf5d0a5d1848b4e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cc8d3f3af64d4a" /><Relationship Type="http://schemas.openxmlformats.org/officeDocument/2006/relationships/notesSlide" Target="/ppt/notesSlides/notesSlide5.xml" Id="Rb91df496f41f4f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d1ec6848674ce9" /><Relationship Type="http://schemas.openxmlformats.org/officeDocument/2006/relationships/notesSlide" Target="/ppt/notesSlides/notesSlide6.xml" Id="R1374ba7808e24bc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103f17ab924455" /><Relationship Type="http://schemas.openxmlformats.org/officeDocument/2006/relationships/notesSlide" Target="/ppt/notesSlides/notesSlide7.xml" Id="R23840641537843f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6f1a027cb243bc" /><Relationship Type="http://schemas.openxmlformats.org/officeDocument/2006/relationships/notesSlide" Target="/ppt/notesSlides/notesSlide8.xml" Id="R029dba7eb251453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956ff292bb492a" /><Relationship Type="http://schemas.openxmlformats.org/officeDocument/2006/relationships/notesSlide" Target="/ppt/notesSlides/notesSlide9.xml" Id="R3df7fb9e2ffa49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42-42">
            <a:extLst xmlns:a="http://schemas.openxmlformats.org/drawingml/2006/main">
              <a:ext uri="{FF2B5EF4-FFF2-40B4-BE49-F238E27FC236}">
                <a16:creationId xmlns:a16="http://schemas.microsoft.com/office/drawing/2014/main" id="{9165960F-037F-4BB0-872E-1CB24BFD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管理层决策材料</a:t>
            </a:r>
          </a:p>
        </p:txBody>
      </p:sp>
      <p:sp>
        <p:nvSpPr>
          <p:cNvPr id="2" name="text-42-176">
            <a:extLst xmlns:a="http://schemas.openxmlformats.org/drawingml/2006/main">
              <a:ext uri="{FF2B5EF4-FFF2-40B4-BE49-F238E27FC236}">
                <a16:creationId xmlns:a16="http://schemas.microsoft.com/office/drawing/2014/main" id="{98A7E12B-E0AE-4E8D-ACBC-696A5111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8096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智能信贷审批</a:t>
            </a:r>
          </a:p>
          <a:p xmlns:a="http://schemas.openxmlformats.org/drawingml/2006/main">
            <a:pPr algn="l">
              <a:defRPr sz="5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辅助项目</a:t>
            </a:r>
          </a:p>
        </p:txBody>
      </p:sp>
      <p:sp>
        <p:nvSpPr>
          <p:cNvPr id="3" name="text-42-512">
            <a:extLst xmlns:a="http://schemas.openxmlformats.org/drawingml/2006/main">
              <a:ext uri="{FF2B5EF4-FFF2-40B4-BE49-F238E27FC236}">
                <a16:creationId xmlns:a16="http://schemas.microsoft.com/office/drawing/2014/main" id="{2BF5FF98-CD67-4CF8-B9B2-E0E78A0E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1009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T4-变更后｜有限试点｜预算上限380万元｜周期6个月</a:t>
            </a:r>
          </a:p>
        </p:txBody>
      </p:sp>
      <p:sp>
        <p:nvSpPr>
          <p:cNvPr id="4" name="source-624">
            <a:extLst xmlns:a="http://schemas.openxmlformats.org/drawingml/2006/main">
              <a:ext uri="{FF2B5EF4-FFF2-40B4-BE49-F238E27FC236}">
                <a16:creationId xmlns:a16="http://schemas.microsoft.com/office/drawing/2014/main" id="{05DD6D3E-A302-4C67-B7DF-06FB4994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43600"/>
            <a:ext cx="10334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教学模拟；事实来源为案例“二、正式事实”，供应商效果尚未验证。</a:t>
            </a:r>
          </a:p>
        </p:txBody>
      </p:sp>
    </p:spTree>
    <p:extLst>
      <p:ext uri="{BB962C8B-B14F-4D97-AF65-F5344CB8AC3E}">
        <p14:creationId xmlns:p14="http://schemas.microsoft.com/office/powerpoint/2010/main" val="172995643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-2">
            <a:extLst xmlns:a="http://schemas.openxmlformats.org/drawingml/2006/main">
              <a:ext uri="{FF2B5EF4-FFF2-40B4-BE49-F238E27FC236}">
                <a16:creationId xmlns:a16="http://schemas.microsoft.com/office/drawing/2014/main" id="{A05EBFCB-4E9A-469A-8273-E15F6213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管理层面对的是有限试点决策，不是效果保证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EC6A282A-4B7C-4AC1-BAA3-B084729F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" name="facts">
            <a:extLst xmlns:a="http://schemas.openxmlformats.org/drawingml/2006/main">
              <a:ext uri="{FF2B5EF4-FFF2-40B4-BE49-F238E27FC236}">
                <a16:creationId xmlns:a16="http://schemas.microsoft.com/office/drawing/2014/main" id="{A3700391-78D0-4221-8B63-43E4E925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53340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74-198">
            <a:extLst xmlns:a="http://schemas.openxmlformats.org/drawingml/2006/main">
              <a:ext uri="{FF2B5EF4-FFF2-40B4-BE49-F238E27FC236}">
                <a16:creationId xmlns:a16="http://schemas.microsoft.com/office/drawing/2014/main" id="{86E78131-75C6-4CCF-AF98-031701FE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受控事实</a:t>
            </a:r>
          </a:p>
        </p:txBody>
      </p:sp>
      <p:sp>
        <p:nvSpPr>
          <p:cNvPr id="5" name="text-74-258">
            <a:extLst xmlns:a="http://schemas.openxmlformats.org/drawingml/2006/main">
              <a:ext uri="{FF2B5EF4-FFF2-40B4-BE49-F238E27FC236}">
                <a16:creationId xmlns:a16="http://schemas.microsoft.com/office/drawing/2014/main" id="{0002E5FB-4F6C-4F36-A3F4-FE382A14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4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6" name="bullet-0-258">
            <a:extLst xmlns:a="http://schemas.openxmlformats.org/drawingml/2006/main">
              <a:ext uri="{FF2B5EF4-FFF2-40B4-BE49-F238E27FC236}">
                <a16:creationId xmlns:a16="http://schemas.microsoft.com/office/drawing/2014/main" id="{361B47E8-A49F-4DE9-9792-8E03CED8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438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年申请量 24万件（CASE-T1-R2）</a:t>
            </a:r>
          </a:p>
        </p:txBody>
      </p:sp>
      <p:sp>
        <p:nvSpPr>
          <p:cNvPr id="7" name="text-74-336">
            <a:extLst xmlns:a="http://schemas.openxmlformats.org/drawingml/2006/main">
              <a:ext uri="{FF2B5EF4-FFF2-40B4-BE49-F238E27FC236}">
                <a16:creationId xmlns:a16="http://schemas.microsoft.com/office/drawing/2014/main" id="{4BC1D85C-8370-4895-A85C-FE4F21EC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040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4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bullet-1-258">
            <a:extLst xmlns:a="http://schemas.openxmlformats.org/drawingml/2006/main">
              <a:ext uri="{FF2B5EF4-FFF2-40B4-BE49-F238E27FC236}">
                <a16:creationId xmlns:a16="http://schemas.microsoft.com/office/drawing/2014/main" id="{A9723A32-C6BF-428F-92C3-8941530F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00400"/>
            <a:ext cx="438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平均人工审核时长 45分钟/件（CASE-T1-R3）</a:t>
            </a:r>
          </a:p>
        </p:txBody>
      </p:sp>
      <p:sp>
        <p:nvSpPr>
          <p:cNvPr id="9" name="text-74-414">
            <a:extLst xmlns:a="http://schemas.openxmlformats.org/drawingml/2006/main">
              <a:ext uri="{FF2B5EF4-FFF2-40B4-BE49-F238E27FC236}">
                <a16:creationId xmlns:a16="http://schemas.microsoft.com/office/drawing/2014/main" id="{81F70684-6B15-4198-8F0F-E3ACCD39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4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bullet-2-258">
            <a:extLst xmlns:a="http://schemas.openxmlformats.org/drawingml/2006/main">
              <a:ext uri="{FF2B5EF4-FFF2-40B4-BE49-F238E27FC236}">
                <a16:creationId xmlns:a16="http://schemas.microsoft.com/office/drawing/2014/main" id="{0EA9503D-BAF7-4278-82BF-71827EC6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43350"/>
            <a:ext cx="438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当前12个月逾期率 5.8%，仅为业务基线（CASE-T1-R4）</a:t>
            </a:r>
          </a:p>
        </p:txBody>
      </p:sp>
      <p:sp>
        <p:nvSpPr>
          <p:cNvPr id="11" name="boundary">
            <a:extLst xmlns:a="http://schemas.openxmlformats.org/drawingml/2006/main">
              <a:ext uri="{FF2B5EF4-FFF2-40B4-BE49-F238E27FC236}">
                <a16:creationId xmlns:a16="http://schemas.microsoft.com/office/drawing/2014/main" id="{02D29FEB-AA29-460B-BDFE-B8E62370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00200"/>
            <a:ext cx="5734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text-668-198">
            <a:extLst xmlns:a="http://schemas.openxmlformats.org/drawingml/2006/main">
              <a:ext uri="{FF2B5EF4-FFF2-40B4-BE49-F238E27FC236}">
                <a16:creationId xmlns:a16="http://schemas.microsoft.com/office/drawing/2014/main" id="{5F8886E9-94CA-4207-995A-7E74D9A0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859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证据边界</a:t>
            </a:r>
          </a:p>
        </p:txBody>
      </p:sp>
      <p:sp>
        <p:nvSpPr>
          <p:cNvPr id="13" name="text-668-258">
            <a:extLst xmlns:a="http://schemas.openxmlformats.org/drawingml/2006/main">
              <a:ext uri="{FF2B5EF4-FFF2-40B4-BE49-F238E27FC236}">
                <a16:creationId xmlns:a16="http://schemas.microsoft.com/office/drawing/2014/main" id="{3B2AA0D7-01B5-4018-8C63-9B21250C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5745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4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4" name="bullet-0-258">
            <a:extLst xmlns:a="http://schemas.openxmlformats.org/drawingml/2006/main">
              <a:ext uri="{FF2B5EF4-FFF2-40B4-BE49-F238E27FC236}">
                <a16:creationId xmlns:a16="http://schemas.microsoft.com/office/drawing/2014/main" id="{FD2187D2-84FC-41D7-A407-041E964C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57450"/>
            <a:ext cx="466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效率提升35%：供应商主张，尚未验证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来源：CASE-T1-R7</a:t>
            </a:r>
          </a:p>
        </p:txBody>
      </p:sp>
      <p:sp>
        <p:nvSpPr>
          <p:cNvPr id="15" name="text-668-336">
            <a:extLst xmlns:a="http://schemas.openxmlformats.org/drawingml/2006/main">
              <a:ext uri="{FF2B5EF4-FFF2-40B4-BE49-F238E27FC236}">
                <a16:creationId xmlns:a16="http://schemas.microsoft.com/office/drawing/2014/main" id="{3DDD9209-713C-4462-802D-0C2D3792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0040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4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6" name="bullet-1-258">
            <a:extLst xmlns:a="http://schemas.openxmlformats.org/drawingml/2006/main">
              <a:ext uri="{FF2B5EF4-FFF2-40B4-BE49-F238E27FC236}">
                <a16:creationId xmlns:a16="http://schemas.microsoft.com/office/drawing/2014/main" id="{909AE816-B135-4399-8845-6F75218D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00400"/>
            <a:ext cx="466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逾期率影响未提供：待确认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来源：CASE-T1-R8</a:t>
            </a:r>
          </a:p>
        </p:txBody>
      </p:sp>
      <p:sp>
        <p:nvSpPr>
          <p:cNvPr id="17" name="text-668-414">
            <a:extLst xmlns:a="http://schemas.openxmlformats.org/drawingml/2006/main">
              <a:ext uri="{FF2B5EF4-FFF2-40B4-BE49-F238E27FC236}">
                <a16:creationId xmlns:a16="http://schemas.microsoft.com/office/drawing/2014/main" id="{87D7685E-5BF5-42A1-B71D-9A243070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4335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4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8" name="bullet-2-258">
            <a:extLst xmlns:a="http://schemas.openxmlformats.org/drawingml/2006/main">
              <a:ext uri="{FF2B5EF4-FFF2-40B4-BE49-F238E27FC236}">
                <a16:creationId xmlns:a16="http://schemas.microsoft.com/office/drawing/2014/main" id="{0A1B06A2-559B-4611-97CD-F9DFAF62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943350"/>
            <a:ext cx="466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不得形成确定ROI或逾期率改善承诺</a:t>
            </a:r>
          </a:p>
        </p:txBody>
      </p:sp>
      <p:sp>
        <p:nvSpPr>
          <p:cNvPr id="19" name="source-632">
            <a:extLst xmlns:a="http://schemas.openxmlformats.org/drawingml/2006/main">
              <a:ext uri="{FF2B5EF4-FFF2-40B4-BE49-F238E27FC236}">
                <a16:creationId xmlns:a16="http://schemas.microsoft.com/office/drawing/2014/main" id="{9F3CA77D-8815-46A9-AFCD-FD48B6CE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9800"/>
            <a:ext cx="10334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来源：03_智能信贷审批测试案例.docx，“二、正式事实”表1。</a:t>
            </a:r>
          </a:p>
        </p:txBody>
      </p:sp>
    </p:spTree>
    <p:extLst>
      <p:ext uri="{BB962C8B-B14F-4D97-AF65-F5344CB8AC3E}">
        <p14:creationId xmlns:p14="http://schemas.microsoft.com/office/powerpoint/2010/main" val="60108561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3">
            <a:extLst xmlns:a="http://schemas.openxmlformats.org/drawingml/2006/main">
              <a:ext uri="{FF2B5EF4-FFF2-40B4-BE49-F238E27FC236}">
                <a16:creationId xmlns:a16="http://schemas.microsoft.com/office/drawing/2014/main" id="{0A407496-9515-447B-B33A-2B4800D9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试点只验证辅助流程，最终授信仍由授权人员决定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BB4F7E92-FCB7-46D2-A7CC-48E7E875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" name="phase-1">
            <a:extLst xmlns:a="http://schemas.openxmlformats.org/drawingml/2006/main">
              <a:ext uri="{FF2B5EF4-FFF2-40B4-BE49-F238E27FC236}">
                <a16:creationId xmlns:a16="http://schemas.microsoft.com/office/drawing/2014/main" id="{DB55F044-CCC4-4CA4-9948-832D2D02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57400"/>
            <a:ext cx="34861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68-250">
            <a:extLst xmlns:a="http://schemas.openxmlformats.org/drawingml/2006/main">
              <a:ext uri="{FF2B5EF4-FFF2-40B4-BE49-F238E27FC236}">
                <a16:creationId xmlns:a16="http://schemas.microsoft.com/office/drawing/2014/main" id="{9F3E0B39-C57A-4A07-92BA-2278C370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299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阶段1｜准备</a:t>
            </a:r>
          </a:p>
        </p:txBody>
      </p:sp>
      <p:sp>
        <p:nvSpPr>
          <p:cNvPr id="5" name="text-68-330">
            <a:extLst xmlns:a="http://schemas.openxmlformats.org/drawingml/2006/main">
              <a:ext uri="{FF2B5EF4-FFF2-40B4-BE49-F238E27FC236}">
                <a16:creationId xmlns:a16="http://schemas.microsoft.com/office/drawing/2014/main" id="{10DF0A88-111E-4160-9038-A38B9DEA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29908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核验数据授权；盘点历史样本、材料格式、接口和访问控制。</a:t>
            </a:r>
          </a:p>
        </p:txBody>
      </p:sp>
      <p:sp>
        <p:nvSpPr>
          <p:cNvPr id="6" name="phase-2">
            <a:extLst xmlns:a="http://schemas.openxmlformats.org/drawingml/2006/main">
              <a:ext uri="{FF2B5EF4-FFF2-40B4-BE49-F238E27FC236}">
                <a16:creationId xmlns:a16="http://schemas.microsoft.com/office/drawing/2014/main" id="{FB8EA41A-A9C4-42C5-856D-5944BCD8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57400"/>
            <a:ext cx="34861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text-478-250">
            <a:extLst xmlns:a="http://schemas.openxmlformats.org/drawingml/2006/main">
              <a:ext uri="{FF2B5EF4-FFF2-40B4-BE49-F238E27FC236}">
                <a16:creationId xmlns:a16="http://schemas.microsoft.com/office/drawing/2014/main" id="{266EAD61-0A4A-4A06-A780-134E30E9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81250"/>
            <a:ext cx="299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阶段2｜离线验证</a:t>
            </a:r>
          </a:p>
        </p:txBody>
      </p:sp>
      <p:sp>
        <p:nvSpPr>
          <p:cNvPr id="8" name="text-478-330">
            <a:extLst xmlns:a="http://schemas.openxmlformats.org/drawingml/2006/main">
              <a:ext uri="{FF2B5EF4-FFF2-40B4-BE49-F238E27FC236}">
                <a16:creationId xmlns:a16="http://schemas.microsoft.com/office/drawing/2014/main" id="{CFBC9370-B249-464B-A366-6F9B79E4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43250"/>
            <a:ext cx="29908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人工并行复核文档识别、公平性、解释性、误报/漏报与版本质量。</a:t>
            </a:r>
          </a:p>
        </p:txBody>
      </p:sp>
      <p:sp>
        <p:nvSpPr>
          <p:cNvPr id="9" name="phase-3">
            <a:extLst xmlns:a="http://schemas.openxmlformats.org/drawingml/2006/main">
              <a:ext uri="{FF2B5EF4-FFF2-40B4-BE49-F238E27FC236}">
                <a16:creationId xmlns:a16="http://schemas.microsoft.com/office/drawing/2014/main" id="{00C20B3D-9AA2-4079-A597-3118B699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57400"/>
            <a:ext cx="34861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text-888-250">
            <a:extLst xmlns:a="http://schemas.openxmlformats.org/drawingml/2006/main">
              <a:ext uri="{FF2B5EF4-FFF2-40B4-BE49-F238E27FC236}">
                <a16:creationId xmlns:a16="http://schemas.microsoft.com/office/drawing/2014/main" id="{D6FC5541-4FDA-4827-8D87-A123F16C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81250"/>
            <a:ext cx="299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阶段3｜有限试点</a:t>
            </a:r>
          </a:p>
        </p:txBody>
      </p:sp>
      <p:sp>
        <p:nvSpPr>
          <p:cNvPr id="11" name="text-888-330">
            <a:extLst xmlns:a="http://schemas.openxmlformats.org/drawingml/2006/main">
              <a:ext uri="{FF2B5EF4-FFF2-40B4-BE49-F238E27FC236}">
                <a16:creationId xmlns:a16="http://schemas.microsoft.com/office/drawing/2014/main" id="{D0FCD996-D0CA-4DA5-9426-027335A9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43250"/>
            <a:ext cx="29908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记录客户影响、人工修改、申诉投诉、漂移、审计和供应商依赖。</a:t>
            </a:r>
          </a:p>
        </p:txBody>
      </p:sp>
      <p:sp>
        <p:nvSpPr>
          <p:cNvPr id="12" name="source-632">
            <a:extLst xmlns:a="http://schemas.openxmlformats.org/drawingml/2006/main">
              <a:ext uri="{FF2B5EF4-FFF2-40B4-BE49-F238E27FC236}">
                <a16:creationId xmlns:a16="http://schemas.microsoft.com/office/drawing/2014/main" id="{D377C49E-4103-4B12-B2E2-838DB53B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9800"/>
            <a:ext cx="10334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阶段日期与量化门槛未提供；三阶段均纳入6个月总周期（CASE-T1-R6）。</a:t>
            </a:r>
          </a:p>
        </p:txBody>
      </p:sp>
    </p:spTree>
    <p:extLst>
      <p:ext uri="{BB962C8B-B14F-4D97-AF65-F5344CB8AC3E}">
        <p14:creationId xmlns:p14="http://schemas.microsoft.com/office/powerpoint/2010/main" val="158585195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-4">
            <a:extLst xmlns:a="http://schemas.openxmlformats.org/drawingml/2006/main">
              <a:ext uri="{FF2B5EF4-FFF2-40B4-BE49-F238E27FC236}">
                <a16:creationId xmlns:a16="http://schemas.microsoft.com/office/drawing/2014/main" id="{8E139624-CF41-4BAC-9BB5-A963FB33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预算与周期是审批边界，收益仍需试点验证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ECE148A5-A42D-4CC1-87AC-51CB156E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" name="text-42-142">
            <a:extLst xmlns:a="http://schemas.openxmlformats.org/drawingml/2006/main">
              <a:ext uri="{FF2B5EF4-FFF2-40B4-BE49-F238E27FC236}">
                <a16:creationId xmlns:a16="http://schemas.microsoft.com/office/drawing/2014/main" id="{5406F655-372B-4FBE-A184-49D5740E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本轮只批准有限试点边界；供应商效果和逾期率影响不作为确定收益。</a:t>
            </a:r>
          </a:p>
        </p:txBody>
      </p:sp>
      <p:sp>
        <p:nvSpPr>
          <p:cNvPr id="4" name="metric-预算上限">
            <a:extLst xmlns:a="http://schemas.openxmlformats.org/drawingml/2006/main">
              <a:ext uri="{FF2B5EF4-FFF2-40B4-BE49-F238E27FC236}">
                <a16:creationId xmlns:a16="http://schemas.microsoft.com/office/drawing/2014/main" id="{6AE703D5-F41B-4B63-A080-6277AE85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35623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text-72-322">
            <a:extLst xmlns:a="http://schemas.openxmlformats.org/drawingml/2006/main">
              <a:ext uri="{FF2B5EF4-FFF2-40B4-BE49-F238E27FC236}">
                <a16:creationId xmlns:a16="http://schemas.microsoft.com/office/drawing/2014/main" id="{69FCD97E-CF97-43E3-8D50-73172897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B616B"/>
                </a:solidFill>
                <a:latin typeface="Arial"/>
                <a:ea typeface="Arial"/>
                <a:cs typeface="Arial"/>
              </a:rPr>
              <a:t>预算上限</a:t>
            </a:r>
          </a:p>
        </p:txBody>
      </p:sp>
      <p:sp>
        <p:nvSpPr>
          <p:cNvPr id="6" name="text-72-378">
            <a:extLst xmlns:a="http://schemas.openxmlformats.org/drawingml/2006/main">
              <a:ext uri="{FF2B5EF4-FFF2-40B4-BE49-F238E27FC236}">
                <a16:creationId xmlns:a16="http://schemas.microsoft.com/office/drawing/2014/main" id="{B795B12F-AE55-43D1-ADE8-63E4B803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2990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380万元</a:t>
            </a:r>
          </a:p>
        </p:txBody>
      </p:sp>
      <p:sp>
        <p:nvSpPr>
          <p:cNvPr id="7" name="text-72-474">
            <a:extLst xmlns:a="http://schemas.openxmlformats.org/drawingml/2006/main">
              <a:ext uri="{FF2B5EF4-FFF2-40B4-BE49-F238E27FC236}">
                <a16:creationId xmlns:a16="http://schemas.microsoft.com/office/drawing/2014/main" id="{BB45950B-DB5D-43C7-985C-7733834D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299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CHG-01</a:t>
            </a:r>
          </a:p>
        </p:txBody>
      </p:sp>
      <p:sp>
        <p:nvSpPr>
          <p:cNvPr id="8" name="metric-试点周期">
            <a:extLst xmlns:a="http://schemas.openxmlformats.org/drawingml/2006/main">
              <a:ext uri="{FF2B5EF4-FFF2-40B4-BE49-F238E27FC236}">
                <a16:creationId xmlns:a16="http://schemas.microsoft.com/office/drawing/2014/main" id="{73833482-5CFD-480D-962B-1FC2FEBA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762250"/>
            <a:ext cx="35623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text-483-322">
            <a:extLst xmlns:a="http://schemas.openxmlformats.org/drawingml/2006/main">
              <a:ext uri="{FF2B5EF4-FFF2-40B4-BE49-F238E27FC236}">
                <a16:creationId xmlns:a16="http://schemas.microsoft.com/office/drawing/2014/main" id="{DB79A7DD-78D9-4F65-8F3C-052236DB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067050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B616B"/>
                </a:solidFill>
                <a:latin typeface="Arial"/>
                <a:ea typeface="Arial"/>
                <a:cs typeface="Arial"/>
              </a:rPr>
              <a:t>试点周期</a:t>
            </a:r>
          </a:p>
        </p:txBody>
      </p:sp>
      <p:sp>
        <p:nvSpPr>
          <p:cNvPr id="10" name="text-483-378">
            <a:extLst xmlns:a="http://schemas.openxmlformats.org/drawingml/2006/main">
              <a:ext uri="{FF2B5EF4-FFF2-40B4-BE49-F238E27FC236}">
                <a16:creationId xmlns:a16="http://schemas.microsoft.com/office/drawing/2014/main" id="{8429316D-1561-46BF-851D-C899FE2D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600450"/>
            <a:ext cx="2990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6个月</a:t>
            </a:r>
          </a:p>
        </p:txBody>
      </p:sp>
      <p:sp>
        <p:nvSpPr>
          <p:cNvPr id="11" name="text-483-474">
            <a:extLst xmlns:a="http://schemas.openxmlformats.org/drawingml/2006/main">
              <a:ext uri="{FF2B5EF4-FFF2-40B4-BE49-F238E27FC236}">
                <a16:creationId xmlns:a16="http://schemas.microsoft.com/office/drawing/2014/main" id="{A1D5DEC1-7120-4708-B98A-0E302A5D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514850"/>
            <a:ext cx="299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CASE-T1-R6；变更未涉及</a:t>
            </a:r>
          </a:p>
        </p:txBody>
      </p:sp>
      <p:sp>
        <p:nvSpPr>
          <p:cNvPr id="12" name="metric-效果口径">
            <a:extLst xmlns:a="http://schemas.openxmlformats.org/drawingml/2006/main">
              <a:ext uri="{FF2B5EF4-FFF2-40B4-BE49-F238E27FC236}">
                <a16:creationId xmlns:a16="http://schemas.microsoft.com/office/drawing/2014/main" id="{8AEF4311-453E-4DBA-BB94-D1A03CF4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62250"/>
            <a:ext cx="35623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text-894-322">
            <a:extLst xmlns:a="http://schemas.openxmlformats.org/drawingml/2006/main">
              <a:ext uri="{FF2B5EF4-FFF2-40B4-BE49-F238E27FC236}">
                <a16:creationId xmlns:a16="http://schemas.microsoft.com/office/drawing/2014/main" id="{83082C74-3C36-4B3A-9090-B7286983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67050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B616B"/>
                </a:solidFill>
                <a:latin typeface="Arial"/>
                <a:ea typeface="Arial"/>
                <a:cs typeface="Arial"/>
              </a:rPr>
              <a:t>效果口径</a:t>
            </a:r>
          </a:p>
        </p:txBody>
      </p:sp>
      <p:sp>
        <p:nvSpPr>
          <p:cNvPr id="14" name="text-894-378">
            <a:extLst xmlns:a="http://schemas.openxmlformats.org/drawingml/2006/main">
              <a:ext uri="{FF2B5EF4-FFF2-40B4-BE49-F238E27FC236}">
                <a16:creationId xmlns:a16="http://schemas.microsoft.com/office/drawing/2014/main" id="{5F53685B-2DF2-4DDB-BE1F-82303793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600450"/>
            <a:ext cx="2990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35%</a:t>
            </a:r>
          </a:p>
        </p:txBody>
      </p:sp>
      <p:sp>
        <p:nvSpPr>
          <p:cNvPr id="15" name="text-894-474">
            <a:extLst xmlns:a="http://schemas.openxmlformats.org/drawingml/2006/main">
              <a:ext uri="{FF2B5EF4-FFF2-40B4-BE49-F238E27FC236}">
                <a16:creationId xmlns:a16="http://schemas.microsoft.com/office/drawing/2014/main" id="{A74A41FF-40E1-4DA3-A858-33D3E27A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514850"/>
            <a:ext cx="299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供应商主张，尚未验证（CASE-T1-R7）</a:t>
            </a:r>
          </a:p>
        </p:txBody>
      </p:sp>
      <p:sp>
        <p:nvSpPr>
          <p:cNvPr id="16" name="source-632">
            <a:extLst xmlns:a="http://schemas.openxmlformats.org/drawingml/2006/main">
              <a:ext uri="{FF2B5EF4-FFF2-40B4-BE49-F238E27FC236}">
                <a16:creationId xmlns:a16="http://schemas.microsoft.com/office/drawing/2014/main" id="{166840AF-803B-415A-9195-E1464F6B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9800"/>
            <a:ext cx="10334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五项成本：银行内部人员、数据治理整改、长期运维、额外接口、退出迁移均“未明确纳入”。</a:t>
            </a:r>
          </a:p>
        </p:txBody>
      </p:sp>
    </p:spTree>
    <p:extLst>
      <p:ext uri="{BB962C8B-B14F-4D97-AF65-F5344CB8AC3E}">
        <p14:creationId xmlns:p14="http://schemas.microsoft.com/office/powerpoint/2010/main" val="103275046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5">
            <a:extLst xmlns:a="http://schemas.openxmlformats.org/drawingml/2006/main">
              <a:ext uri="{FF2B5EF4-FFF2-40B4-BE49-F238E27FC236}">
                <a16:creationId xmlns:a16="http://schemas.microsoft.com/office/drawing/2014/main" id="{BEE53897-6DBE-432A-95A1-25D9D6A7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评价框架先验证质量与治理，再讨论扩展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C3436FC3-BA2E-431E-915A-76343E276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" name="eval-0">
            <a:extLst xmlns:a="http://schemas.openxmlformats.org/drawingml/2006/main">
              <a:ext uri="{FF2B5EF4-FFF2-40B4-BE49-F238E27FC236}">
                <a16:creationId xmlns:a16="http://schemas.microsoft.com/office/drawing/2014/main" id="{FB3C7B22-2FD2-4FEF-9B8C-17ED34B0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5391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70-216">
            <a:extLst xmlns:a="http://schemas.openxmlformats.org/drawingml/2006/main">
              <a:ext uri="{FF2B5EF4-FFF2-40B4-BE49-F238E27FC236}">
                <a16:creationId xmlns:a16="http://schemas.microsoft.com/office/drawing/2014/main" id="{8F4C8D0E-4C49-4F34-9C1A-F3293F0F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文档质量</a:t>
            </a:r>
          </a:p>
        </p:txBody>
      </p:sp>
      <p:sp>
        <p:nvSpPr>
          <p:cNvPr id="5" name="text-260-214">
            <a:extLst xmlns:a="http://schemas.openxmlformats.org/drawingml/2006/main">
              <a:ext uri="{FF2B5EF4-FFF2-40B4-BE49-F238E27FC236}">
                <a16:creationId xmlns:a16="http://schemas.microsoft.com/office/drawing/2014/main" id="{3AF52F9E-C2D6-4EAC-B863-4D1DD4F1E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38350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历史样本、多格式材料、识别错误、版本变化</a:t>
            </a:r>
          </a:p>
        </p:txBody>
      </p:sp>
      <p:sp>
        <p:nvSpPr>
          <p:cNvPr id="6" name="eval-1">
            <a:extLst xmlns:a="http://schemas.openxmlformats.org/drawingml/2006/main">
              <a:ext uri="{FF2B5EF4-FFF2-40B4-BE49-F238E27FC236}">
                <a16:creationId xmlns:a16="http://schemas.microsoft.com/office/drawing/2014/main" id="{92DD0AF5-DA9E-41B9-8E76-8B9F5B54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5391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text-678-216">
            <a:extLst xmlns:a="http://schemas.openxmlformats.org/drawingml/2006/main">
              <a:ext uri="{FF2B5EF4-FFF2-40B4-BE49-F238E27FC236}">
                <a16:creationId xmlns:a16="http://schemas.microsoft.com/office/drawing/2014/main" id="{A116E511-F3B1-4BAB-831C-D78E42D3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574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公平与解释</a:t>
            </a:r>
          </a:p>
        </p:txBody>
      </p:sp>
      <p:sp>
        <p:nvSpPr>
          <p:cNvPr id="8" name="text-868-214">
            <a:extLst xmlns:a="http://schemas.openxmlformats.org/drawingml/2006/main">
              <a:ext uri="{FF2B5EF4-FFF2-40B4-BE49-F238E27FC236}">
                <a16:creationId xmlns:a16="http://schemas.microsoft.com/office/drawing/2014/main" id="{C3539268-0C4D-4711-AAAC-2BED5FB5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38350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群体差异、关键因素、审批人员可理解与可复核</a:t>
            </a:r>
          </a:p>
        </p:txBody>
      </p:sp>
      <p:sp>
        <p:nvSpPr>
          <p:cNvPr id="9" name="eval-2">
            <a:extLst xmlns:a="http://schemas.openxmlformats.org/drawingml/2006/main">
              <a:ext uri="{FF2B5EF4-FFF2-40B4-BE49-F238E27FC236}">
                <a16:creationId xmlns:a16="http://schemas.microsoft.com/office/drawing/2014/main" id="{247429A5-B49F-43BB-8BF0-CB856BDD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86200"/>
            <a:ext cx="5391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text-70-434">
            <a:extLst xmlns:a="http://schemas.openxmlformats.org/drawingml/2006/main">
              <a:ext uri="{FF2B5EF4-FFF2-40B4-BE49-F238E27FC236}">
                <a16:creationId xmlns:a16="http://schemas.microsoft.com/office/drawing/2014/main" id="{90F30B63-8258-411F-A2E4-277F088D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人工边界</a:t>
            </a:r>
          </a:p>
        </p:txBody>
      </p:sp>
      <p:sp>
        <p:nvSpPr>
          <p:cNvPr id="11" name="text-260-432">
            <a:extLst xmlns:a="http://schemas.openxmlformats.org/drawingml/2006/main">
              <a:ext uri="{FF2B5EF4-FFF2-40B4-BE49-F238E27FC236}">
                <a16:creationId xmlns:a16="http://schemas.microsoft.com/office/drawing/2014/main" id="{75A4674A-7344-4E6C-9DAC-4F319675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14800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最终授信责任、偏离理由、抽样复核与申诉</a:t>
            </a:r>
          </a:p>
        </p:txBody>
      </p:sp>
      <p:sp>
        <p:nvSpPr>
          <p:cNvPr id="12" name="eval-3">
            <a:extLst xmlns:a="http://schemas.openxmlformats.org/drawingml/2006/main">
              <a:ext uri="{FF2B5EF4-FFF2-40B4-BE49-F238E27FC236}">
                <a16:creationId xmlns:a16="http://schemas.microsoft.com/office/drawing/2014/main" id="{2B918C5A-6924-4D2A-84DC-3FE8E92B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86200"/>
            <a:ext cx="5391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text-678-434">
            <a:extLst xmlns:a="http://schemas.openxmlformats.org/drawingml/2006/main">
              <a:ext uri="{FF2B5EF4-FFF2-40B4-BE49-F238E27FC236}">
                <a16:creationId xmlns:a16="http://schemas.microsoft.com/office/drawing/2014/main" id="{1A789832-571B-4330-9A34-ADF5E824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338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运行治理</a:t>
            </a:r>
          </a:p>
        </p:txBody>
      </p:sp>
      <p:sp>
        <p:nvSpPr>
          <p:cNvPr id="14" name="text-868-432">
            <a:extLst xmlns:a="http://schemas.openxmlformats.org/drawingml/2006/main">
              <a:ext uri="{FF2B5EF4-FFF2-40B4-BE49-F238E27FC236}">
                <a16:creationId xmlns:a16="http://schemas.microsoft.com/office/drawing/2014/main" id="{57530A59-2682-4E5B-9DE8-DF6EFB48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14800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隐私授权、日志审计、漂移、供应商可迁移性</a:t>
            </a:r>
          </a:p>
        </p:txBody>
      </p:sp>
      <p:sp>
        <p:nvSpPr>
          <p:cNvPr id="15" name="source-632">
            <a:extLst xmlns:a="http://schemas.openxmlformats.org/drawingml/2006/main">
              <a:ext uri="{FF2B5EF4-FFF2-40B4-BE49-F238E27FC236}">
                <a16:creationId xmlns:a16="http://schemas.microsoft.com/office/drawing/2014/main" id="{72A81B35-BC03-4305-A2B4-5E01896D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9800"/>
            <a:ext cx="10334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扩展阈值数值未提供，须由管理层批准后使用；不得自行补造。</a:t>
            </a:r>
          </a:p>
        </p:txBody>
      </p:sp>
    </p:spTree>
    <p:extLst>
      <p:ext uri="{BB962C8B-B14F-4D97-AF65-F5344CB8AC3E}">
        <p14:creationId xmlns:p14="http://schemas.microsoft.com/office/powerpoint/2010/main" val="169273499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itle-6">
            <a:extLst xmlns:a="http://schemas.openxmlformats.org/drawingml/2006/main">
              <a:ext uri="{FF2B5EF4-FFF2-40B4-BE49-F238E27FC236}">
                <a16:creationId xmlns:a16="http://schemas.microsoft.com/office/drawing/2014/main" id="{E116E3FC-8DC4-494B-9BC4-A94267B7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八类金融风险均需在试点中留下可验证控制证据</a:t>
            </a:r>
          </a:p>
        </p:txBody>
      </p:sp>
      <p:sp>
        <p:nvSpPr>
          <p:cNvPr id="2" name="page-6">
            <a:extLst xmlns:a="http://schemas.openxmlformats.org/drawingml/2006/main">
              <a:ext uri="{FF2B5EF4-FFF2-40B4-BE49-F238E27FC236}">
                <a16:creationId xmlns:a16="http://schemas.microsoft.com/office/drawing/2014/main" id="{7F3F21B3-E022-4FF1-9E59-C97BDF00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" name="risk-0">
            <a:extLst xmlns:a="http://schemas.openxmlformats.org/drawingml/2006/main">
              <a:ext uri="{FF2B5EF4-FFF2-40B4-BE49-F238E27FC236}">
                <a16:creationId xmlns:a16="http://schemas.microsoft.com/office/drawing/2014/main" id="{70D90134-B6AF-4B2B-8C10-56566125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71650"/>
            <a:ext cx="26098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62-208">
            <a:extLst xmlns:a="http://schemas.openxmlformats.org/drawingml/2006/main">
              <a:ext uri="{FF2B5EF4-FFF2-40B4-BE49-F238E27FC236}">
                <a16:creationId xmlns:a16="http://schemas.microsoft.com/office/drawing/2014/main" id="{F1DC40D2-1CF4-47A2-9AE9-8C6833FA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81200"/>
            <a:ext cx="222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隐私</a:t>
            </a:r>
          </a:p>
        </p:txBody>
      </p:sp>
      <p:sp>
        <p:nvSpPr>
          <p:cNvPr id="5" name="text-62-264">
            <a:extLst xmlns:a="http://schemas.openxmlformats.org/drawingml/2006/main">
              <a:ext uri="{FF2B5EF4-FFF2-40B4-BE49-F238E27FC236}">
                <a16:creationId xmlns:a16="http://schemas.microsoft.com/office/drawing/2014/main" id="{DC8E490C-7087-4B59-8556-FFE032C9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14600"/>
            <a:ext cx="2228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最小化、授权、脱敏、访问</a:t>
            </a:r>
          </a:p>
        </p:txBody>
      </p:sp>
      <p:sp>
        <p:nvSpPr>
          <p:cNvPr id="6" name="risk-1">
            <a:extLst xmlns:a="http://schemas.openxmlformats.org/drawingml/2006/main">
              <a:ext uri="{FF2B5EF4-FFF2-40B4-BE49-F238E27FC236}">
                <a16:creationId xmlns:a16="http://schemas.microsoft.com/office/drawing/2014/main" id="{DCA3E216-612F-41FA-A9ED-2F5B5788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771650"/>
            <a:ext cx="26098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text-363-208">
            <a:extLst xmlns:a="http://schemas.openxmlformats.org/drawingml/2006/main">
              <a:ext uri="{FF2B5EF4-FFF2-40B4-BE49-F238E27FC236}">
                <a16:creationId xmlns:a16="http://schemas.microsoft.com/office/drawing/2014/main" id="{EE503ABB-D1D2-46AF-84F7-EF5DE634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981200"/>
            <a:ext cx="222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误报</a:t>
            </a:r>
          </a:p>
        </p:txBody>
      </p:sp>
      <p:sp>
        <p:nvSpPr>
          <p:cNvPr id="8" name="text-363-264">
            <a:extLst xmlns:a="http://schemas.openxmlformats.org/drawingml/2006/main">
              <a:ext uri="{FF2B5EF4-FFF2-40B4-BE49-F238E27FC236}">
                <a16:creationId xmlns:a16="http://schemas.microsoft.com/office/drawing/2014/main" id="{CE321802-D19A-469C-88EF-5B71863A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514600"/>
            <a:ext cx="2228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客户影响、复核、申诉</a:t>
            </a:r>
          </a:p>
        </p:txBody>
      </p:sp>
      <p:sp>
        <p:nvSpPr>
          <p:cNvPr id="9" name="risk-2">
            <a:extLst xmlns:a="http://schemas.openxmlformats.org/drawingml/2006/main">
              <a:ext uri="{FF2B5EF4-FFF2-40B4-BE49-F238E27FC236}">
                <a16:creationId xmlns:a16="http://schemas.microsoft.com/office/drawing/2014/main" id="{59682BA9-E481-4E35-A837-5D564394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71650"/>
            <a:ext cx="26098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text-664-208">
            <a:extLst xmlns:a="http://schemas.openxmlformats.org/drawingml/2006/main">
              <a:ext uri="{FF2B5EF4-FFF2-40B4-BE49-F238E27FC236}">
                <a16:creationId xmlns:a16="http://schemas.microsoft.com/office/drawing/2014/main" id="{721C6D94-67C0-4828-8513-3C278B8D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81200"/>
            <a:ext cx="222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漏报</a:t>
            </a:r>
          </a:p>
        </p:txBody>
      </p:sp>
      <p:sp>
        <p:nvSpPr>
          <p:cNvPr id="11" name="text-664-264">
            <a:extLst xmlns:a="http://schemas.openxmlformats.org/drawingml/2006/main">
              <a:ext uri="{FF2B5EF4-FFF2-40B4-BE49-F238E27FC236}">
                <a16:creationId xmlns:a16="http://schemas.microsoft.com/office/drawing/2014/main" id="{AB426E17-63C5-4F8D-8540-78FEC061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14600"/>
            <a:ext cx="2228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残余风险、监测、升级</a:t>
            </a:r>
          </a:p>
        </p:txBody>
      </p:sp>
      <p:sp>
        <p:nvSpPr>
          <p:cNvPr id="12" name="risk-3">
            <a:extLst xmlns:a="http://schemas.openxmlformats.org/drawingml/2006/main">
              <a:ext uri="{FF2B5EF4-FFF2-40B4-BE49-F238E27FC236}">
                <a16:creationId xmlns:a16="http://schemas.microsoft.com/office/drawing/2014/main" id="{18EDA096-B284-4E34-9392-5A1C83C1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771650"/>
            <a:ext cx="26098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text-965-208">
            <a:extLst xmlns:a="http://schemas.openxmlformats.org/drawingml/2006/main">
              <a:ext uri="{FF2B5EF4-FFF2-40B4-BE49-F238E27FC236}">
                <a16:creationId xmlns:a16="http://schemas.microsoft.com/office/drawing/2014/main" id="{B5CE0C5E-BC96-4293-81D0-8D780E16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981200"/>
            <a:ext cx="222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解释性</a:t>
            </a:r>
          </a:p>
        </p:txBody>
      </p:sp>
      <p:sp>
        <p:nvSpPr>
          <p:cNvPr id="14" name="text-965-264">
            <a:extLst xmlns:a="http://schemas.openxmlformats.org/drawingml/2006/main">
              <a:ext uri="{FF2B5EF4-FFF2-40B4-BE49-F238E27FC236}">
                <a16:creationId xmlns:a16="http://schemas.microsoft.com/office/drawing/2014/main" id="{9E11580E-541D-4128-B3EF-B1B70A0F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514600"/>
            <a:ext cx="2228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原因、输出、责任边界</a:t>
            </a:r>
          </a:p>
        </p:txBody>
      </p:sp>
      <p:sp>
        <p:nvSpPr>
          <p:cNvPr id="15" name="risk-4">
            <a:extLst xmlns:a="http://schemas.openxmlformats.org/drawingml/2006/main">
              <a:ext uri="{FF2B5EF4-FFF2-40B4-BE49-F238E27FC236}">
                <a16:creationId xmlns:a16="http://schemas.microsoft.com/office/drawing/2014/main" id="{C6927514-07BD-4D85-8F05-2BF388D9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67150"/>
            <a:ext cx="26098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text-62-428">
            <a:extLst xmlns:a="http://schemas.openxmlformats.org/drawingml/2006/main">
              <a:ext uri="{FF2B5EF4-FFF2-40B4-BE49-F238E27FC236}">
                <a16:creationId xmlns:a16="http://schemas.microsoft.com/office/drawing/2014/main" id="{503F994F-F101-40D6-96ED-0B7726F7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76700"/>
            <a:ext cx="222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模型漂移</a:t>
            </a:r>
          </a:p>
        </p:txBody>
      </p:sp>
      <p:sp>
        <p:nvSpPr>
          <p:cNvPr id="17" name="text-62-484">
            <a:extLst xmlns:a="http://schemas.openxmlformats.org/drawingml/2006/main">
              <a:ext uri="{FF2B5EF4-FFF2-40B4-BE49-F238E27FC236}">
                <a16:creationId xmlns:a16="http://schemas.microsoft.com/office/drawing/2014/main" id="{AA75E327-BAD1-48EE-B929-A94B351C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10100"/>
            <a:ext cx="2228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监控、阈值、再验证</a:t>
            </a:r>
          </a:p>
        </p:txBody>
      </p:sp>
      <p:sp>
        <p:nvSpPr>
          <p:cNvPr id="18" name="risk-5">
            <a:extLst xmlns:a="http://schemas.openxmlformats.org/drawingml/2006/main">
              <a:ext uri="{FF2B5EF4-FFF2-40B4-BE49-F238E27FC236}">
                <a16:creationId xmlns:a16="http://schemas.microsoft.com/office/drawing/2014/main" id="{858E059A-741B-46F5-B94A-C147B910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867150"/>
            <a:ext cx="26098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text-363-428">
            <a:extLst xmlns:a="http://schemas.openxmlformats.org/drawingml/2006/main">
              <a:ext uri="{FF2B5EF4-FFF2-40B4-BE49-F238E27FC236}">
                <a16:creationId xmlns:a16="http://schemas.microsoft.com/office/drawing/2014/main" id="{B477C11B-AFEC-404A-821D-A0BB6EED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076700"/>
            <a:ext cx="222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审计</a:t>
            </a:r>
          </a:p>
        </p:txBody>
      </p:sp>
      <p:sp>
        <p:nvSpPr>
          <p:cNvPr id="20" name="text-363-484">
            <a:extLst xmlns:a="http://schemas.openxmlformats.org/drawingml/2006/main">
              <a:ext uri="{FF2B5EF4-FFF2-40B4-BE49-F238E27FC236}">
                <a16:creationId xmlns:a16="http://schemas.microsoft.com/office/drawing/2014/main" id="{10D0A183-FC09-431C-91C7-423952D4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610100"/>
            <a:ext cx="2228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日志、版本、证据留存</a:t>
            </a:r>
          </a:p>
        </p:txBody>
      </p:sp>
      <p:sp>
        <p:nvSpPr>
          <p:cNvPr id="21" name="risk-6">
            <a:extLst xmlns:a="http://schemas.openxmlformats.org/drawingml/2006/main">
              <a:ext uri="{FF2B5EF4-FFF2-40B4-BE49-F238E27FC236}">
                <a16:creationId xmlns:a16="http://schemas.microsoft.com/office/drawing/2014/main" id="{2D5AC52F-6215-4342-884D-CBC7C9FF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67150"/>
            <a:ext cx="26098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text-664-428">
            <a:extLst xmlns:a="http://schemas.openxmlformats.org/drawingml/2006/main">
              <a:ext uri="{FF2B5EF4-FFF2-40B4-BE49-F238E27FC236}">
                <a16:creationId xmlns:a16="http://schemas.microsoft.com/office/drawing/2014/main" id="{2ADE9808-E761-4AE2-B79A-55B74956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76700"/>
            <a:ext cx="222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供应商依赖</a:t>
            </a:r>
          </a:p>
        </p:txBody>
      </p:sp>
      <p:sp>
        <p:nvSpPr>
          <p:cNvPr id="23" name="text-664-484">
            <a:extLst xmlns:a="http://schemas.openxmlformats.org/drawingml/2006/main">
              <a:ext uri="{FF2B5EF4-FFF2-40B4-BE49-F238E27FC236}">
                <a16:creationId xmlns:a16="http://schemas.microsoft.com/office/drawing/2014/main" id="{1F6F8C52-EE6A-4398-A807-122B22E9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10100"/>
            <a:ext cx="2228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中断、锁定、可迁移</a:t>
            </a:r>
          </a:p>
        </p:txBody>
      </p:sp>
      <p:sp>
        <p:nvSpPr>
          <p:cNvPr id="24" name="risk-7">
            <a:extLst xmlns:a="http://schemas.openxmlformats.org/drawingml/2006/main">
              <a:ext uri="{FF2B5EF4-FFF2-40B4-BE49-F238E27FC236}">
                <a16:creationId xmlns:a16="http://schemas.microsoft.com/office/drawing/2014/main" id="{E189E758-FB4D-4FCF-B0F7-6B663BB0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867150"/>
            <a:ext cx="26098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text-965-428">
            <a:extLst xmlns:a="http://schemas.openxmlformats.org/drawingml/2006/main">
              <a:ext uri="{FF2B5EF4-FFF2-40B4-BE49-F238E27FC236}">
                <a16:creationId xmlns:a16="http://schemas.microsoft.com/office/drawing/2014/main" id="{DB1C7B68-6A6E-42D2-A633-F1455D13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076700"/>
            <a:ext cx="222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客户争议</a:t>
            </a:r>
          </a:p>
        </p:txBody>
      </p:sp>
      <p:sp>
        <p:nvSpPr>
          <p:cNvPr id="26" name="text-965-484">
            <a:extLst xmlns:a="http://schemas.openxmlformats.org/drawingml/2006/main">
              <a:ext uri="{FF2B5EF4-FFF2-40B4-BE49-F238E27FC236}">
                <a16:creationId xmlns:a16="http://schemas.microsoft.com/office/drawing/2014/main" id="{D04879DC-EE74-43E1-850B-4B94E273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610100"/>
            <a:ext cx="2228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投诉、补救、人工决定</a:t>
            </a:r>
          </a:p>
        </p:txBody>
      </p:sp>
      <p:sp>
        <p:nvSpPr>
          <p:cNvPr id="27" name="source-632">
            <a:extLst xmlns:a="http://schemas.openxmlformats.org/drawingml/2006/main">
              <a:ext uri="{FF2B5EF4-FFF2-40B4-BE49-F238E27FC236}">
                <a16:creationId xmlns:a16="http://schemas.microsoft.com/office/drawing/2014/main" id="{406159DD-7B45-42F1-B6D5-DBE61751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9800"/>
            <a:ext cx="10334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最低披露口径依据 V2 quality-gates.md；模型仅提供辅助判断。</a:t>
            </a:r>
          </a:p>
        </p:txBody>
      </p:sp>
    </p:spTree>
    <p:extLst>
      <p:ext uri="{BB962C8B-B14F-4D97-AF65-F5344CB8AC3E}">
        <p14:creationId xmlns:p14="http://schemas.microsoft.com/office/powerpoint/2010/main" val="103379629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7">
            <a:extLst xmlns:a="http://schemas.openxmlformats.org/drawingml/2006/main">
              <a:ext uri="{FF2B5EF4-FFF2-40B4-BE49-F238E27FC236}">
                <a16:creationId xmlns:a16="http://schemas.microsoft.com/office/drawing/2014/main" id="{95308538-A50E-4D5E-B71F-D42E196C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信贷场景需额外防范歧视、盲从和文档识别质量风险</a:t>
            </a:r>
          </a:p>
        </p:txBody>
      </p:sp>
      <p:sp>
        <p:nvSpPr>
          <p:cNvPr id="2" name="page-7">
            <a:extLst xmlns:a="http://schemas.openxmlformats.org/drawingml/2006/main">
              <a:ext uri="{FF2B5EF4-FFF2-40B4-BE49-F238E27FC236}">
                <a16:creationId xmlns:a16="http://schemas.microsoft.com/office/drawing/2014/main" id="{A38143D4-8D2C-4987-AD22-5B0B9735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" name="scenario-0">
            <a:extLst xmlns:a="http://schemas.openxmlformats.org/drawingml/2006/main">
              <a:ext uri="{FF2B5EF4-FFF2-40B4-BE49-F238E27FC236}">
                <a16:creationId xmlns:a16="http://schemas.microsoft.com/office/drawing/2014/main" id="{382A9FF9-6185-4D2C-8A39-4A83BF88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35623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70-254">
            <a:extLst xmlns:a="http://schemas.openxmlformats.org/drawingml/2006/main">
              <a:ext uri="{FF2B5EF4-FFF2-40B4-BE49-F238E27FC236}">
                <a16:creationId xmlns:a16="http://schemas.microsoft.com/office/drawing/2014/main" id="{419390F5-D272-41CB-BB54-D3A132FF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3028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公平与歧视</a:t>
            </a:r>
          </a:p>
        </p:txBody>
      </p:sp>
      <p:sp>
        <p:nvSpPr>
          <p:cNvPr id="5" name="text-70-332">
            <a:extLst xmlns:a="http://schemas.openxmlformats.org/drawingml/2006/main">
              <a:ext uri="{FF2B5EF4-FFF2-40B4-BE49-F238E27FC236}">
                <a16:creationId xmlns:a16="http://schemas.microsoft.com/office/drawing/2014/main" id="{053F2A8F-8529-406D-B620-6DC78B25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3028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检测不同群体的不合理差异；不得不当使用受保护属性；明确复核责任。</a:t>
            </a:r>
          </a:p>
        </p:txBody>
      </p:sp>
      <p:sp>
        <p:nvSpPr>
          <p:cNvPr id="6" name="scenario-1">
            <a:extLst xmlns:a="http://schemas.openxmlformats.org/drawingml/2006/main">
              <a:ext uri="{FF2B5EF4-FFF2-40B4-BE49-F238E27FC236}">
                <a16:creationId xmlns:a16="http://schemas.microsoft.com/office/drawing/2014/main" id="{D176D041-1B52-46B4-9F5D-3E31FE54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95500"/>
            <a:ext cx="35623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text-481-254">
            <a:extLst xmlns:a="http://schemas.openxmlformats.org/drawingml/2006/main">
              <a:ext uri="{FF2B5EF4-FFF2-40B4-BE49-F238E27FC236}">
                <a16:creationId xmlns:a16="http://schemas.microsoft.com/office/drawing/2014/main" id="{64B7573D-195D-48C0-BC3B-3D95EB3A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419350"/>
            <a:ext cx="3028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自动化偏误</a:t>
            </a:r>
          </a:p>
        </p:txBody>
      </p:sp>
      <p:sp>
        <p:nvSpPr>
          <p:cNvPr id="8" name="text-481-332">
            <a:extLst xmlns:a="http://schemas.openxmlformats.org/drawingml/2006/main">
              <a:ext uri="{FF2B5EF4-FFF2-40B4-BE49-F238E27FC236}">
                <a16:creationId xmlns:a16="http://schemas.microsoft.com/office/drawing/2014/main" id="{50140C44-26CF-44BC-A240-101DE6B2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162300"/>
            <a:ext cx="3028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要求审批人员独立判断、记录偏离理由并抽样复核盲从风险。</a:t>
            </a:r>
          </a:p>
        </p:txBody>
      </p:sp>
      <p:sp>
        <p:nvSpPr>
          <p:cNvPr id="9" name="scenario-2">
            <a:extLst xmlns:a="http://schemas.openxmlformats.org/drawingml/2006/main">
              <a:ext uri="{FF2B5EF4-FFF2-40B4-BE49-F238E27FC236}">
                <a16:creationId xmlns:a16="http://schemas.microsoft.com/office/drawing/2014/main" id="{DB46FBE2-AE0D-46D2-AA5F-6CD3E9CA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0"/>
            <a:ext cx="35623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text-892-254">
            <a:extLst xmlns:a="http://schemas.openxmlformats.org/drawingml/2006/main">
              <a:ext uri="{FF2B5EF4-FFF2-40B4-BE49-F238E27FC236}">
                <a16:creationId xmlns:a16="http://schemas.microsoft.com/office/drawing/2014/main" id="{0ED3CEA5-2F91-432B-801A-4B07779C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19350"/>
            <a:ext cx="3028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模型/文档质量</a:t>
            </a:r>
          </a:p>
        </p:txBody>
      </p:sp>
      <p:sp>
        <p:nvSpPr>
          <p:cNvPr id="11" name="text-892-332">
            <a:extLst xmlns:a="http://schemas.openxmlformats.org/drawingml/2006/main">
              <a:ext uri="{FF2B5EF4-FFF2-40B4-BE49-F238E27FC236}">
                <a16:creationId xmlns:a16="http://schemas.microsoft.com/office/drawing/2014/main" id="{D1DC6772-3057-4982-94B7-DF5E5584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62300"/>
            <a:ext cx="3028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用历史样本验证多格式材料与接口；监控识别错误、漂移和版本变化。</a:t>
            </a:r>
          </a:p>
        </p:txBody>
      </p:sp>
      <p:sp>
        <p:nvSpPr>
          <p:cNvPr id="12" name="source-632">
            <a:extLst xmlns:a="http://schemas.openxmlformats.org/drawingml/2006/main">
              <a:ext uri="{FF2B5EF4-FFF2-40B4-BE49-F238E27FC236}">
                <a16:creationId xmlns:a16="http://schemas.microsoft.com/office/drawing/2014/main" id="{E0AECDCE-D6F2-41C6-AF5E-6B532BFE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9800"/>
            <a:ext cx="10334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来源：案例“三、访谈摘录”及“五、必须覆盖的风险”；未复用反欺诈项目数字或风险结论。</a:t>
            </a:r>
          </a:p>
        </p:txBody>
      </p:sp>
    </p:spTree>
    <p:extLst>
      <p:ext uri="{BB962C8B-B14F-4D97-AF65-F5344CB8AC3E}">
        <p14:creationId xmlns:p14="http://schemas.microsoft.com/office/powerpoint/2010/main" val="52851668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-8">
            <a:extLst xmlns:a="http://schemas.openxmlformats.org/drawingml/2006/main">
              <a:ext uri="{FF2B5EF4-FFF2-40B4-BE49-F238E27FC236}">
                <a16:creationId xmlns:a16="http://schemas.microsoft.com/office/drawing/2014/main" id="{7914F08A-64FA-4419-AEC5-91A3C5EA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本次批准有限试点；生产扩展与收益承诺留待证据完成</a:t>
            </a:r>
          </a:p>
        </p:txBody>
      </p:sp>
      <p:sp>
        <p:nvSpPr>
          <p:cNvPr id="2" name="page-8">
            <a:extLst xmlns:a="http://schemas.openxmlformats.org/drawingml/2006/main">
              <a:ext uri="{FF2B5EF4-FFF2-40B4-BE49-F238E27FC236}">
                <a16:creationId xmlns:a16="http://schemas.microsoft.com/office/drawing/2014/main" id="{7D353BCA-B75C-4026-BD3B-6BF859F7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" name="approve-now">
            <a:extLst xmlns:a="http://schemas.openxmlformats.org/drawingml/2006/main">
              <a:ext uri="{FF2B5EF4-FFF2-40B4-BE49-F238E27FC236}">
                <a16:creationId xmlns:a16="http://schemas.microsoft.com/office/drawing/2014/main" id="{F3B2045D-4BF6-4B3B-B984-9F40807A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74-202">
            <a:extLst xmlns:a="http://schemas.openxmlformats.org/drawingml/2006/main">
              <a:ext uri="{FF2B5EF4-FFF2-40B4-BE49-F238E27FC236}">
                <a16:creationId xmlns:a16="http://schemas.microsoft.com/office/drawing/2014/main" id="{85208FBC-728A-4FAF-86B2-74500803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本次批准</a:t>
            </a:r>
          </a:p>
        </p:txBody>
      </p:sp>
      <p:sp>
        <p:nvSpPr>
          <p:cNvPr id="5" name="text-74-274">
            <a:extLst xmlns:a="http://schemas.openxmlformats.org/drawingml/2006/main">
              <a:ext uri="{FF2B5EF4-FFF2-40B4-BE49-F238E27FC236}">
                <a16:creationId xmlns:a16="http://schemas.microsoft.com/office/drawing/2014/main" id="{105EC4AB-9010-4383-AF33-EB7FAF54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4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6" name="bullet-0-274">
            <a:extLst xmlns:a="http://schemas.openxmlformats.org/drawingml/2006/main">
              <a:ext uri="{FF2B5EF4-FFF2-40B4-BE49-F238E27FC236}">
                <a16:creationId xmlns:a16="http://schemas.microsoft.com/office/drawing/2014/main" id="{E8836091-4419-483E-8E9E-D7D25EE5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98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预算上限380万元、周期6个月</a:t>
            </a:r>
          </a:p>
        </p:txBody>
      </p:sp>
      <p:sp>
        <p:nvSpPr>
          <p:cNvPr id="7" name="text-74-360">
            <a:extLst xmlns:a="http://schemas.openxmlformats.org/drawingml/2006/main">
              <a:ext uri="{FF2B5EF4-FFF2-40B4-BE49-F238E27FC236}">
                <a16:creationId xmlns:a16="http://schemas.microsoft.com/office/drawing/2014/main" id="{4FB6F3CC-7D64-4068-BF90-A5046AD9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4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bullet-1-274">
            <a:extLst xmlns:a="http://schemas.openxmlformats.org/drawingml/2006/main">
              <a:ext uri="{FF2B5EF4-FFF2-40B4-BE49-F238E27FC236}">
                <a16:creationId xmlns:a16="http://schemas.microsoft.com/office/drawing/2014/main" id="{4726089D-AC7D-4706-9A64-C797761D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首阶段：授权核验、样本/格式盘点、离线质量基线</a:t>
            </a:r>
          </a:p>
        </p:txBody>
      </p:sp>
      <p:sp>
        <p:nvSpPr>
          <p:cNvPr id="9" name="text-74-446">
            <a:extLst xmlns:a="http://schemas.openxmlformats.org/drawingml/2006/main">
              <a:ext uri="{FF2B5EF4-FFF2-40B4-BE49-F238E27FC236}">
                <a16:creationId xmlns:a16="http://schemas.microsoft.com/office/drawing/2014/main" id="{476EABB2-FAA9-4419-98BF-854F1957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4815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4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bullet-2-274">
            <a:extLst xmlns:a="http://schemas.openxmlformats.org/drawingml/2006/main">
              <a:ext uri="{FF2B5EF4-FFF2-40B4-BE49-F238E27FC236}">
                <a16:creationId xmlns:a16="http://schemas.microsoft.com/office/drawing/2014/main" id="{1BBF8EC8-561E-4B6A-9082-BEAC097B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481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模型仅作辅助；最终授信由授权审批人员作出</a:t>
            </a:r>
          </a:p>
        </p:txBody>
      </p:sp>
      <p:sp>
        <p:nvSpPr>
          <p:cNvPr id="11" name="decide-later">
            <a:extLst xmlns:a="http://schemas.openxmlformats.org/drawingml/2006/main">
              <a:ext uri="{FF2B5EF4-FFF2-40B4-BE49-F238E27FC236}">
                <a16:creationId xmlns:a16="http://schemas.microsoft.com/office/drawing/2014/main" id="{BABC9087-710D-4DB6-958D-B20D9CC9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00200"/>
            <a:ext cx="56007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text-682-202">
            <a:extLst xmlns:a="http://schemas.openxmlformats.org/drawingml/2006/main">
              <a:ext uri="{FF2B5EF4-FFF2-40B4-BE49-F238E27FC236}">
                <a16:creationId xmlns:a16="http://schemas.microsoft.com/office/drawing/2014/main" id="{057BBFCA-249C-4F78-8373-443D0607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240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试点后再决策</a:t>
            </a:r>
          </a:p>
        </p:txBody>
      </p:sp>
      <p:sp>
        <p:nvSpPr>
          <p:cNvPr id="13" name="text-682-274">
            <a:extLst xmlns:a="http://schemas.openxmlformats.org/drawingml/2006/main">
              <a:ext uri="{FF2B5EF4-FFF2-40B4-BE49-F238E27FC236}">
                <a16:creationId xmlns:a16="http://schemas.microsoft.com/office/drawing/2014/main" id="{0770A706-FF7A-4CA1-9A42-CA553C2E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985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4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4" name="bullet-0-274">
            <a:extLst xmlns:a="http://schemas.openxmlformats.org/drawingml/2006/main">
              <a:ext uri="{FF2B5EF4-FFF2-40B4-BE49-F238E27FC236}">
                <a16:creationId xmlns:a16="http://schemas.microsoft.com/office/drawing/2014/main" id="{FE51C185-D010-4CEC-9B70-BF4E06A8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09850"/>
            <a:ext cx="4667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是否扩展至生产或扩大范围</a:t>
            </a:r>
          </a:p>
        </p:txBody>
      </p:sp>
      <p:sp>
        <p:nvSpPr>
          <p:cNvPr id="15" name="text-682-360">
            <a:extLst xmlns:a="http://schemas.openxmlformats.org/drawingml/2006/main">
              <a:ext uri="{FF2B5EF4-FFF2-40B4-BE49-F238E27FC236}">
                <a16:creationId xmlns:a16="http://schemas.microsoft.com/office/drawing/2014/main" id="{0C90D208-865B-48F8-AA61-39630A65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2900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4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6" name="bullet-1-274">
            <a:extLst xmlns:a="http://schemas.openxmlformats.org/drawingml/2006/main">
              <a:ext uri="{FF2B5EF4-FFF2-40B4-BE49-F238E27FC236}">
                <a16:creationId xmlns:a16="http://schemas.microsoft.com/office/drawing/2014/main" id="{5FD3723D-F21D-4864-BAF2-1FA1D5C4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29000"/>
            <a:ext cx="4667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量化门槛、成本全量范围与退出安排</a:t>
            </a:r>
          </a:p>
        </p:txBody>
      </p:sp>
      <p:sp>
        <p:nvSpPr>
          <p:cNvPr id="17" name="text-682-446">
            <a:extLst xmlns:a="http://schemas.openxmlformats.org/drawingml/2006/main">
              <a:ext uri="{FF2B5EF4-FFF2-40B4-BE49-F238E27FC236}">
                <a16:creationId xmlns:a16="http://schemas.microsoft.com/office/drawing/2014/main" id="{C548F9D7-7BD7-4732-B603-9728D8D8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4815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4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8" name="bullet-2-274">
            <a:extLst xmlns:a="http://schemas.openxmlformats.org/drawingml/2006/main">
              <a:ext uri="{FF2B5EF4-FFF2-40B4-BE49-F238E27FC236}">
                <a16:creationId xmlns:a16="http://schemas.microsoft.com/office/drawing/2014/main" id="{E65AF72A-F8AF-4683-811E-D36E8773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248150"/>
            <a:ext cx="4667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逾期率影响与ROI；证据不足前不得保证</a:t>
            </a:r>
          </a:p>
        </p:txBody>
      </p:sp>
      <p:sp>
        <p:nvSpPr>
          <p:cNvPr id="19" name="source-632">
            <a:extLst xmlns:a="http://schemas.openxmlformats.org/drawingml/2006/main">
              <a:ext uri="{FF2B5EF4-FFF2-40B4-BE49-F238E27FC236}">
                <a16:creationId xmlns:a16="http://schemas.microsoft.com/office/drawing/2014/main" id="{1D5CB58E-BA50-4371-B535-38EA7888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9800"/>
            <a:ext cx="10334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扩展条件：质量、公平、解释、客户影响、成本和审计证据达成并经管理层批准；重大缺陷触发暂停。</a:t>
            </a:r>
          </a:p>
        </p:txBody>
      </p:sp>
    </p:spTree>
    <p:extLst>
      <p:ext uri="{BB962C8B-B14F-4D97-AF65-F5344CB8AC3E}">
        <p14:creationId xmlns:p14="http://schemas.microsoft.com/office/powerpoint/2010/main" val="36205607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itle-9">
            <a:extLst xmlns:a="http://schemas.openxmlformats.org/drawingml/2006/main">
              <a:ext uri="{FF2B5EF4-FFF2-40B4-BE49-F238E27FC236}">
                <a16:creationId xmlns:a16="http://schemas.microsoft.com/office/drawing/2014/main" id="{A023886D-EF98-41D8-8EA0-6ECA293A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附录｜每个数字都有来源，缺失项保持待确认</a:t>
            </a:r>
          </a:p>
        </p:txBody>
      </p:sp>
      <p:sp>
        <p:nvSpPr>
          <p:cNvPr id="2" name="page-9">
            <a:extLst xmlns:a="http://schemas.openxmlformats.org/drawingml/2006/main">
              <a:ext uri="{FF2B5EF4-FFF2-40B4-BE49-F238E27FC236}">
                <a16:creationId xmlns:a16="http://schemas.microsoft.com/office/drawing/2014/main" id="{6F67803F-571C-47A1-ACE1-55DC1A96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3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8E9CEFCD-81D4-4088-9D1D-77C46B59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1139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66-193">
            <a:extLst xmlns:a="http://schemas.openxmlformats.org/drawingml/2006/main">
              <a:ext uri="{FF2B5EF4-FFF2-40B4-BE49-F238E27FC236}">
                <a16:creationId xmlns:a16="http://schemas.microsoft.com/office/drawing/2014/main" id="{D5ABB7F7-07E3-4C5B-A7A9-CBB7235E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3832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内容</a:t>
            </a:r>
          </a:p>
        </p:txBody>
      </p:sp>
      <p:sp>
        <p:nvSpPr>
          <p:cNvPr id="5" name="text-388-193">
            <a:extLst xmlns:a="http://schemas.openxmlformats.org/drawingml/2006/main">
              <a:ext uri="{FF2B5EF4-FFF2-40B4-BE49-F238E27FC236}">
                <a16:creationId xmlns:a16="http://schemas.microsoft.com/office/drawing/2014/main" id="{54C1CB60-8D8A-4878-B7EA-4BA561F5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8383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来源</a:t>
            </a:r>
          </a:p>
        </p:txBody>
      </p:sp>
      <p:sp>
        <p:nvSpPr>
          <p:cNvPr id="6" name="text-740-193">
            <a:extLst xmlns:a="http://schemas.openxmlformats.org/drawingml/2006/main">
              <a:ext uri="{FF2B5EF4-FFF2-40B4-BE49-F238E27FC236}">
                <a16:creationId xmlns:a16="http://schemas.microsoft.com/office/drawing/2014/main" id="{D2EFD7DB-CB22-4CCC-AC19-43284007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3832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证据边界</a:t>
            </a:r>
          </a:p>
        </p:txBody>
      </p:sp>
      <p:sp>
        <p:nvSpPr>
          <p:cNvPr id="7" name="row-0">
            <a:extLst xmlns:a="http://schemas.openxmlformats.org/drawingml/2006/main">
              <a:ext uri="{FF2B5EF4-FFF2-40B4-BE49-F238E27FC236}">
                <a16:creationId xmlns:a16="http://schemas.microsoft.com/office/drawing/2014/main" id="{CF0A6A6F-789B-4542-A0EE-829BF436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8850"/>
            <a:ext cx="1139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text-66-244">
            <a:extLst xmlns:a="http://schemas.openxmlformats.org/drawingml/2006/main">
              <a:ext uri="{FF2B5EF4-FFF2-40B4-BE49-F238E27FC236}">
                <a16:creationId xmlns:a16="http://schemas.microsoft.com/office/drawing/2014/main" id="{CC26D223-38BF-44E4-86ED-D543D15B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24万件</a:t>
            </a:r>
          </a:p>
        </p:txBody>
      </p:sp>
      <p:sp>
        <p:nvSpPr>
          <p:cNvPr id="9" name="text-388-244">
            <a:extLst xmlns:a="http://schemas.openxmlformats.org/drawingml/2006/main">
              <a:ext uri="{FF2B5EF4-FFF2-40B4-BE49-F238E27FC236}">
                <a16:creationId xmlns:a16="http://schemas.microsoft.com/office/drawing/2014/main" id="{B6B2057F-DABD-4C24-BF0C-B949FB8B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324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CASE-T1-R2</a:t>
            </a:r>
          </a:p>
        </p:txBody>
      </p:sp>
      <p:sp>
        <p:nvSpPr>
          <p:cNvPr id="10" name="text-740-244">
            <a:extLst xmlns:a="http://schemas.openxmlformats.org/drawingml/2006/main">
              <a:ext uri="{FF2B5EF4-FFF2-40B4-BE49-F238E27FC236}">
                <a16:creationId xmlns:a16="http://schemas.microsoft.com/office/drawing/2014/main" id="{1C1279D9-6263-4498-823C-85D97343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241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正式事实</a:t>
            </a:r>
          </a:p>
        </p:txBody>
      </p:sp>
      <p:sp>
        <p:nvSpPr>
          <p:cNvPr id="11" name="text-66-294">
            <a:extLst xmlns:a="http://schemas.openxmlformats.org/drawingml/2006/main">
              <a:ext uri="{FF2B5EF4-FFF2-40B4-BE49-F238E27FC236}">
                <a16:creationId xmlns:a16="http://schemas.microsoft.com/office/drawing/2014/main" id="{1013215F-148F-4F15-8747-A514656E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03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45分钟/件</a:t>
            </a:r>
          </a:p>
        </p:txBody>
      </p:sp>
      <p:sp>
        <p:nvSpPr>
          <p:cNvPr id="12" name="text-388-294">
            <a:extLst xmlns:a="http://schemas.openxmlformats.org/drawingml/2006/main">
              <a:ext uri="{FF2B5EF4-FFF2-40B4-BE49-F238E27FC236}">
                <a16:creationId xmlns:a16="http://schemas.microsoft.com/office/drawing/2014/main" id="{8FA5696A-CBCB-4CB0-8755-A5093C59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00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CASE-T1-R3</a:t>
            </a:r>
          </a:p>
        </p:txBody>
      </p:sp>
      <p:sp>
        <p:nvSpPr>
          <p:cNvPr id="13" name="text-740-294">
            <a:extLst xmlns:a="http://schemas.openxmlformats.org/drawingml/2006/main">
              <a:ext uri="{FF2B5EF4-FFF2-40B4-BE49-F238E27FC236}">
                <a16:creationId xmlns:a16="http://schemas.microsoft.com/office/drawing/2014/main" id="{C3669424-7B19-48F4-9675-C107A747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003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正式事实</a:t>
            </a:r>
          </a:p>
        </p:txBody>
      </p:sp>
      <p:sp>
        <p:nvSpPr>
          <p:cNvPr id="14" name="row-2">
            <a:extLst xmlns:a="http://schemas.openxmlformats.org/drawingml/2006/main">
              <a:ext uri="{FF2B5EF4-FFF2-40B4-BE49-F238E27FC236}">
                <a16:creationId xmlns:a16="http://schemas.microsoft.com/office/drawing/2014/main" id="{862C337B-A58E-4381-98B9-7F4C4B62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1139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text-66-344">
            <a:extLst xmlns:a="http://schemas.openxmlformats.org/drawingml/2006/main">
              <a:ext uri="{FF2B5EF4-FFF2-40B4-BE49-F238E27FC236}">
                <a16:creationId xmlns:a16="http://schemas.microsoft.com/office/drawing/2014/main" id="{E8D24701-48EC-4EE1-A632-1F98D761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766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5.8%</a:t>
            </a:r>
          </a:p>
        </p:txBody>
      </p:sp>
      <p:sp>
        <p:nvSpPr>
          <p:cNvPr id="16" name="text-388-344">
            <a:extLst xmlns:a="http://schemas.openxmlformats.org/drawingml/2006/main">
              <a:ext uri="{FF2B5EF4-FFF2-40B4-BE49-F238E27FC236}">
                <a16:creationId xmlns:a16="http://schemas.microsoft.com/office/drawing/2014/main" id="{4A35A60F-C811-436C-8B65-8ACCE1FC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76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CASE-T1-R4</a:t>
            </a:r>
          </a:p>
        </p:txBody>
      </p:sp>
      <p:sp>
        <p:nvSpPr>
          <p:cNvPr id="17" name="text-740-344">
            <a:extLst xmlns:a="http://schemas.openxmlformats.org/drawingml/2006/main">
              <a:ext uri="{FF2B5EF4-FFF2-40B4-BE49-F238E27FC236}">
                <a16:creationId xmlns:a16="http://schemas.microsoft.com/office/drawing/2014/main" id="{C70C9B80-65EA-4AEC-8F57-64D7B1FF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766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业务基线；不可归因</a:t>
            </a:r>
          </a:p>
        </p:txBody>
      </p:sp>
      <p:sp>
        <p:nvSpPr>
          <p:cNvPr id="18" name="text-66-394">
            <a:extLst xmlns:a="http://schemas.openxmlformats.org/drawingml/2006/main">
              <a:ext uri="{FF2B5EF4-FFF2-40B4-BE49-F238E27FC236}">
                <a16:creationId xmlns:a16="http://schemas.microsoft.com/office/drawing/2014/main" id="{F4D36469-09C9-4E54-887F-3AFE49F5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528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380万元</a:t>
            </a:r>
          </a:p>
        </p:txBody>
      </p:sp>
      <p:sp>
        <p:nvSpPr>
          <p:cNvPr id="19" name="text-388-394">
            <a:extLst xmlns:a="http://schemas.openxmlformats.org/drawingml/2006/main">
              <a:ext uri="{FF2B5EF4-FFF2-40B4-BE49-F238E27FC236}">
                <a16:creationId xmlns:a16="http://schemas.microsoft.com/office/drawing/2014/main" id="{4CED1113-329C-4074-96AA-2BA44E28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752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CHG-01</a:t>
            </a:r>
          </a:p>
        </p:txBody>
      </p:sp>
      <p:sp>
        <p:nvSpPr>
          <p:cNvPr id="20" name="text-740-394">
            <a:extLst xmlns:a="http://schemas.openxmlformats.org/drawingml/2006/main">
              <a:ext uri="{FF2B5EF4-FFF2-40B4-BE49-F238E27FC236}">
                <a16:creationId xmlns:a16="http://schemas.microsoft.com/office/drawing/2014/main" id="{DCBF80B5-0872-4D5B-A773-A24D2D06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528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预算上限</a:t>
            </a:r>
          </a:p>
        </p:txBody>
      </p:sp>
      <p:sp>
        <p:nvSpPr>
          <p:cNvPr id="21" name="row-4">
            <a:extLst xmlns:a="http://schemas.openxmlformats.org/drawingml/2006/main">
              <a:ext uri="{FF2B5EF4-FFF2-40B4-BE49-F238E27FC236}">
                <a16:creationId xmlns:a16="http://schemas.microsoft.com/office/drawing/2014/main" id="{F44A8346-6F82-496F-AD61-64CFB96F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33850"/>
            <a:ext cx="1139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text-66-444">
            <a:extLst xmlns:a="http://schemas.openxmlformats.org/drawingml/2006/main">
              <a:ext uri="{FF2B5EF4-FFF2-40B4-BE49-F238E27FC236}">
                <a16:creationId xmlns:a16="http://schemas.microsoft.com/office/drawing/2014/main" id="{2D91FD7B-CE01-425B-AF35-AAEA7326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291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6个月</a:t>
            </a:r>
          </a:p>
        </p:txBody>
      </p:sp>
      <p:sp>
        <p:nvSpPr>
          <p:cNvPr id="23" name="text-388-444">
            <a:extLst xmlns:a="http://schemas.openxmlformats.org/drawingml/2006/main">
              <a:ext uri="{FF2B5EF4-FFF2-40B4-BE49-F238E27FC236}">
                <a16:creationId xmlns:a16="http://schemas.microsoft.com/office/drawing/2014/main" id="{EDA4E733-9823-4800-8506-C298E71F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229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CASE-T1-R6</a:t>
            </a:r>
          </a:p>
        </p:txBody>
      </p:sp>
      <p:sp>
        <p:nvSpPr>
          <p:cNvPr id="24" name="text-740-444">
            <a:extLst xmlns:a="http://schemas.openxmlformats.org/drawingml/2006/main">
              <a:ext uri="{FF2B5EF4-FFF2-40B4-BE49-F238E27FC236}">
                <a16:creationId xmlns:a16="http://schemas.microsoft.com/office/drawing/2014/main" id="{8EAB2704-43EA-45C7-B987-2D9F26E8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291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正式事实</a:t>
            </a:r>
          </a:p>
        </p:txBody>
      </p:sp>
      <p:sp>
        <p:nvSpPr>
          <p:cNvPr id="25" name="text-66-494">
            <a:extLst xmlns:a="http://schemas.openxmlformats.org/drawingml/2006/main">
              <a:ext uri="{FF2B5EF4-FFF2-40B4-BE49-F238E27FC236}">
                <a16:creationId xmlns:a16="http://schemas.microsoft.com/office/drawing/2014/main" id="{2E07BDAB-ED11-4606-80FB-C9515769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053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35%</a:t>
            </a:r>
          </a:p>
        </p:txBody>
      </p:sp>
      <p:sp>
        <p:nvSpPr>
          <p:cNvPr id="26" name="text-388-494">
            <a:extLst xmlns:a="http://schemas.openxmlformats.org/drawingml/2006/main">
              <a:ext uri="{FF2B5EF4-FFF2-40B4-BE49-F238E27FC236}">
                <a16:creationId xmlns:a16="http://schemas.microsoft.com/office/drawing/2014/main" id="{7422111F-E1B2-4FF3-87EB-46C88E4B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705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CASE-T1-R7</a:t>
            </a:r>
          </a:p>
        </p:txBody>
      </p:sp>
      <p:sp>
        <p:nvSpPr>
          <p:cNvPr id="27" name="text-740-494">
            <a:extLst xmlns:a="http://schemas.openxmlformats.org/drawingml/2006/main">
              <a:ext uri="{FF2B5EF4-FFF2-40B4-BE49-F238E27FC236}">
                <a16:creationId xmlns:a16="http://schemas.microsoft.com/office/drawing/2014/main" id="{FBAB2A71-5A62-4085-B03B-2F3D044A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7053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供应商主张，尚未验证</a:t>
            </a:r>
          </a:p>
        </p:txBody>
      </p:sp>
      <p:sp>
        <p:nvSpPr>
          <p:cNvPr id="28" name="row-6">
            <a:extLst xmlns:a="http://schemas.openxmlformats.org/drawingml/2006/main">
              <a:ext uri="{FF2B5EF4-FFF2-40B4-BE49-F238E27FC236}">
                <a16:creationId xmlns:a16="http://schemas.microsoft.com/office/drawing/2014/main" id="{853C39CA-A43E-477F-A48F-7047EC08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86350"/>
            <a:ext cx="1139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text-66-544">
            <a:extLst xmlns:a="http://schemas.openxmlformats.org/drawingml/2006/main">
              <a:ext uri="{FF2B5EF4-FFF2-40B4-BE49-F238E27FC236}">
                <a16:creationId xmlns:a16="http://schemas.microsoft.com/office/drawing/2014/main" id="{48B89422-48CF-4DB4-8715-3F53BF64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816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未提供</a:t>
            </a:r>
          </a:p>
        </p:txBody>
      </p:sp>
      <p:sp>
        <p:nvSpPr>
          <p:cNvPr id="30" name="text-388-544">
            <a:extLst xmlns:a="http://schemas.openxmlformats.org/drawingml/2006/main">
              <a:ext uri="{FF2B5EF4-FFF2-40B4-BE49-F238E27FC236}">
                <a16:creationId xmlns:a16="http://schemas.microsoft.com/office/drawing/2014/main" id="{609DAEF0-389E-413F-BA21-E946AD48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181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CASE-T1-R8</a:t>
            </a:r>
          </a:p>
        </p:txBody>
      </p:sp>
      <p:sp>
        <p:nvSpPr>
          <p:cNvPr id="31" name="text-740-544">
            <a:extLst xmlns:a="http://schemas.openxmlformats.org/drawingml/2006/main">
              <a:ext uri="{FF2B5EF4-FFF2-40B4-BE49-F238E27FC236}">
                <a16:creationId xmlns:a16="http://schemas.microsoft.com/office/drawing/2014/main" id="{75BEF7CC-E632-4056-ACCD-D04D04BA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1816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逾期率影响待确认</a:t>
            </a:r>
          </a:p>
        </p:txBody>
      </p:sp>
      <p:sp>
        <p:nvSpPr>
          <p:cNvPr id="32" name="text-42-596">
            <a:extLst xmlns:a="http://schemas.openxmlformats.org/drawingml/2006/main">
              <a:ext uri="{FF2B5EF4-FFF2-40B4-BE49-F238E27FC236}">
                <a16:creationId xmlns:a16="http://schemas.microsoft.com/office/drawing/2014/main" id="{84554C2F-948B-4022-B560-E19D4606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B616B"/>
                </a:solidFill>
                <a:latin typeface="Arial"/>
                <a:ea typeface="Arial"/>
                <a:cs typeface="Arial"/>
              </a:rPr>
              <a:t>变更记录（历史）</a:t>
            </a:r>
          </a:p>
        </p:txBody>
      </p:sp>
      <p:sp>
        <p:nvSpPr>
          <p:cNvPr id="33" name="text-270-594">
            <a:extLst xmlns:a="http://schemas.openxmlformats.org/drawingml/2006/main">
              <a:ext uri="{FF2B5EF4-FFF2-40B4-BE49-F238E27FC236}">
                <a16:creationId xmlns:a16="http://schemas.microsoft.com/office/drawing/2014/main" id="{4BF2B4B6-01AF-46C5-9E25-B57C4655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65785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预算上限：历史值420万元 → 当前值380万元；证据CHG-01；其他事实未变。</a:t>
            </a:r>
          </a:p>
        </p:txBody>
      </p:sp>
      <p:sp>
        <p:nvSpPr>
          <p:cNvPr id="34" name="source-648">
            <a:extLst xmlns:a="http://schemas.openxmlformats.org/drawingml/2006/main">
              <a:ext uri="{FF2B5EF4-FFF2-40B4-BE49-F238E27FC236}">
                <a16:creationId xmlns:a16="http://schemas.microsoft.com/office/drawing/2014/main" id="{49E2A6EB-9297-419F-B0A5-BA525EF5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10334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待确认：逾期率影响、ROI、五项成本纳入范围、阶段日期与量化门槛。</a:t>
            </a:r>
          </a:p>
        </p:txBody>
      </p:sp>
    </p:spTree>
    <p:extLst>
      <p:ext uri="{BB962C8B-B14F-4D97-AF65-F5344CB8AC3E}">
        <p14:creationId xmlns:p14="http://schemas.microsoft.com/office/powerpoint/2010/main" val="6010542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2026-07-23T11:07:27.8040000Z</dcterms:created>
  <dcterms:modified xsi:type="dcterms:W3CDTF">2026-07-23T11:07:27.8040000Z</dcterms:modified>
</coreProperties>
</file>